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95"/>
  </p:notesMasterIdLst>
  <p:handoutMasterIdLst>
    <p:handoutMasterId r:id="rId96"/>
  </p:handoutMasterIdLst>
  <p:sldIdLst>
    <p:sldId id="256" r:id="rId5"/>
    <p:sldId id="301" r:id="rId6"/>
    <p:sldId id="257" r:id="rId7"/>
    <p:sldId id="268" r:id="rId8"/>
    <p:sldId id="260" r:id="rId9"/>
    <p:sldId id="309" r:id="rId10"/>
    <p:sldId id="311" r:id="rId11"/>
    <p:sldId id="313" r:id="rId12"/>
    <p:sldId id="314" r:id="rId13"/>
    <p:sldId id="315" r:id="rId14"/>
    <p:sldId id="316" r:id="rId15"/>
    <p:sldId id="317" r:id="rId16"/>
    <p:sldId id="304" r:id="rId17"/>
    <p:sldId id="312" r:id="rId18"/>
    <p:sldId id="322" r:id="rId19"/>
    <p:sldId id="318" r:id="rId20"/>
    <p:sldId id="319" r:id="rId21"/>
    <p:sldId id="321" r:id="rId22"/>
    <p:sldId id="324" r:id="rId23"/>
    <p:sldId id="325" r:id="rId24"/>
    <p:sldId id="326" r:id="rId25"/>
    <p:sldId id="328" r:id="rId26"/>
    <p:sldId id="329" r:id="rId27"/>
    <p:sldId id="332" r:id="rId28"/>
    <p:sldId id="330" r:id="rId29"/>
    <p:sldId id="339" r:id="rId30"/>
    <p:sldId id="333" r:id="rId31"/>
    <p:sldId id="331" r:id="rId32"/>
    <p:sldId id="334" r:id="rId33"/>
    <p:sldId id="335" r:id="rId34"/>
    <p:sldId id="336" r:id="rId35"/>
    <p:sldId id="337" r:id="rId36"/>
    <p:sldId id="338" r:id="rId37"/>
    <p:sldId id="340" r:id="rId38"/>
    <p:sldId id="305" r:id="rId39"/>
    <p:sldId id="341" r:id="rId40"/>
    <p:sldId id="344" r:id="rId41"/>
    <p:sldId id="345" r:id="rId42"/>
    <p:sldId id="346" r:id="rId43"/>
    <p:sldId id="347" r:id="rId44"/>
    <p:sldId id="348" r:id="rId45"/>
    <p:sldId id="343" r:id="rId46"/>
    <p:sldId id="342" r:id="rId47"/>
    <p:sldId id="349" r:id="rId48"/>
    <p:sldId id="350" r:id="rId49"/>
    <p:sldId id="351" r:id="rId50"/>
    <p:sldId id="352" r:id="rId51"/>
    <p:sldId id="353" r:id="rId52"/>
    <p:sldId id="354" r:id="rId53"/>
    <p:sldId id="355" r:id="rId54"/>
    <p:sldId id="356" r:id="rId55"/>
    <p:sldId id="357" r:id="rId56"/>
    <p:sldId id="358" r:id="rId57"/>
    <p:sldId id="359" r:id="rId58"/>
    <p:sldId id="361" r:id="rId59"/>
    <p:sldId id="360" r:id="rId60"/>
    <p:sldId id="363" r:id="rId61"/>
    <p:sldId id="365" r:id="rId62"/>
    <p:sldId id="367" r:id="rId63"/>
    <p:sldId id="366" r:id="rId64"/>
    <p:sldId id="368" r:id="rId65"/>
    <p:sldId id="371" r:id="rId66"/>
    <p:sldId id="370" r:id="rId67"/>
    <p:sldId id="372" r:id="rId68"/>
    <p:sldId id="306" r:id="rId69"/>
    <p:sldId id="373" r:id="rId70"/>
    <p:sldId id="374" r:id="rId71"/>
    <p:sldId id="376" r:id="rId72"/>
    <p:sldId id="377" r:id="rId73"/>
    <p:sldId id="378" r:id="rId74"/>
    <p:sldId id="379" r:id="rId75"/>
    <p:sldId id="380" r:id="rId76"/>
    <p:sldId id="381" r:id="rId77"/>
    <p:sldId id="382" r:id="rId78"/>
    <p:sldId id="383" r:id="rId79"/>
    <p:sldId id="384" r:id="rId80"/>
    <p:sldId id="386" r:id="rId81"/>
    <p:sldId id="385" r:id="rId82"/>
    <p:sldId id="387" r:id="rId83"/>
    <p:sldId id="388" r:id="rId84"/>
    <p:sldId id="307" r:id="rId85"/>
    <p:sldId id="389" r:id="rId86"/>
    <p:sldId id="392" r:id="rId87"/>
    <p:sldId id="390" r:id="rId88"/>
    <p:sldId id="393" r:id="rId89"/>
    <p:sldId id="391" r:id="rId90"/>
    <p:sldId id="308" r:id="rId91"/>
    <p:sldId id="394" r:id="rId92"/>
    <p:sldId id="395" r:id="rId93"/>
    <p:sldId id="263" r:id="rId94"/>
  </p:sldIdLst>
  <p:sldSz cx="12192000" cy="6858000"/>
  <p:notesSz cx="6858000" cy="9144000"/>
  <p:embeddedFontLst>
    <p:embeddedFont>
      <p:font typeface="Verdana" panose="020B0604030504040204" pitchFamily="34" charset="0"/>
      <p:regular r:id="rId97"/>
      <p:bold r:id="rId98"/>
      <p:italic r:id="rId99"/>
      <p:boldItalic r:id="rId10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viewProps" Target="viewProp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font" Target="fonts/font3.fntdata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font" Target="fonts/font1.fntdata"/><Relationship Id="rId104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font" Target="fonts/font4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font" Target="fonts/font2.fntdata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260048-4FB8-529E-9F14-86CD89E7FB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6DC5D8-1EAB-31E9-219A-16F3AFE967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1830D-45DD-4851-B4A6-304F3652369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5FFCF-02C3-28CE-2183-91B4433E80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2C1C1-625F-6C50-04EF-FC84FF8E2F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4A87D-6AA1-4D27-B78D-F914321F7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67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9AB64D6E-4D81-4BE3-F953-FEC872768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34A0CCD5-16DF-0BF3-D8FC-C13EF0A9D1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4511C907-F785-9384-F806-75A39D602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203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52D24CD-FD89-3EEB-C5AA-552BF56B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>
            <a:extLst>
              <a:ext uri="{FF2B5EF4-FFF2-40B4-BE49-F238E27FC236}">
                <a16:creationId xmlns:a16="http://schemas.microsoft.com/office/drawing/2014/main" id="{C0C77C62-3A34-A279-7932-392A576A8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4AAF9603-493C-8C86-A380-32A9BE373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231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89F347C7-8EBF-888C-2CD3-4DE6AE55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22A470B1-A766-6976-78B5-C535F7CD2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DB19350-AC6C-25DB-21BE-CFEAB0ABB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7077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3FCA054-CC1E-934F-8F1B-5170B4E7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4E9749A4-4D09-27F4-F84F-A663CE51A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D6CE506-7C98-12C3-5ADF-9FC85EEB0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874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B4D859B-A76A-4A8D-C984-74D904C6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798E687-67F2-0C94-CAE0-0F5D646F5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BBB780F-5A5E-2D21-9CF5-4C2A0B4D0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778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CEBC5DAD-DD93-7D4A-6129-4CD47E46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3C39FEFC-9DD1-1792-F1F3-9711F8D16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ABA30F4-5C14-8C41-49B7-2F9132707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9225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AF45266-036C-7517-6F30-8D5131CB8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046E58D-D0C9-733E-7B47-406EC4E27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EB63B5A-D68E-9FF3-666C-008E76C81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1868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4B3F20B6-3F96-2678-BFAF-933BA697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537639AE-EA6B-F3D1-16EB-084BC4A4B3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3C6A349A-A8F7-39A5-8F52-1131D0B104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9786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09FF9D91-519A-E8A8-296C-2980D48F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FEA09D5C-7B74-FC2F-1EE1-20F3C51C1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5981CB5-6CC0-9AD8-9EC1-59EC59A7D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7848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D6A7E4D9-A462-DF60-89EC-A1841E7E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B89F8A77-493D-CB70-763A-948E5F8841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A29FA7A7-14A4-0BCE-B366-44D7CA953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454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1088028B-E42E-1C36-A4EB-4AC06991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4E39EFCD-64D3-30D3-CA5B-16B150AEB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6F4C299-9B5B-185F-4D1C-2A6E1D305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823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838A2E76-849E-B2F7-8F27-E5DA6AAB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9AD891ED-14F0-9C05-C5B4-3A869C96C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DC8941C0-6E54-EEE5-E289-090C7CB42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55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52BCA99-E950-5200-CDDB-D6C9E9D8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45E150C-A469-9CF9-FF11-4F7FAD348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C7C2DBB3-BD8D-F901-C0F4-2D00F6041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2002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65A46E7-892B-BB1D-1DF1-861FD480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A6F100D3-CE2B-ED92-27D6-286B34C9F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FFA724E5-8EF4-235A-24FC-ADFC775B4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8186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71AC776-669C-1574-A79F-5B6F15C5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6D2158C-DD8C-7642-6928-28E8795D8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93662335-0CC3-5DFE-6E84-C1B7095BE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5506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6F9B633-FEC1-6551-82CC-50AE02D9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9E49CF2A-F7EC-5322-C7A5-75774884A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8CB2DF06-8BA6-F5AA-2EB7-CEE1A324D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7387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42DDE409-FF0C-12BB-15B5-E3CCBAE2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5E77E97C-DE5E-B12D-4BFD-5FB2042590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F7653FD-C6A3-EFFB-5B39-D22B38FCE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9754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7C69AF-6AD1-299D-DD5D-CBB2160B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7370BCBC-F913-7E79-2A6C-CF9FDBE40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69CA5D60-C278-7DFC-30C4-266FB09A9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28969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65D193D0-6F2D-5FBE-E26A-D2A718CD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57357559-1A35-3156-1DE0-9C7DD34C0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46748E3-C049-67C0-F5CA-6F7DA955A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0900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A4DE54A-7AFA-4A40-EFEC-01B6A3E9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FF343FA4-B197-C0EB-CA2C-54ED8BBCF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https://swdevnotes.com/python/2021/how-to-filter-a-pandas-dataframe/</a:t>
            </a:r>
            <a:endParaRPr dirty="0"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8F85E763-A1A6-6260-2F4D-B037D8C22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9965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3AAC6F2-B31D-CFF8-5BDD-42C9BFEB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94C1F08C-4798-3887-637D-87212B721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1FA29E0B-5D79-7183-D2FA-0EF496F0D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70472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6ADA7889-5084-875C-8D3D-3A7E4A2E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CE9DB4DE-0223-8F9F-8F83-CD6987D8C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D604B82B-5B77-0D75-DFEC-FD920E969A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1603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C0DF654-CFC6-9FB6-03B9-4C897D16B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A38E3362-BB49-0463-353E-A02839763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47D744E5-FB21-70CD-4D3B-CC8B30483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5810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80BAA174-DD1A-A460-8E13-BDAC1A56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C656284-AB59-2941-FB09-DB8A159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7405E173-726B-0C23-42D6-E6A4FDAE2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1612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83E82EA3-9B10-88F3-23CF-F84BA065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5BD9733-E6CB-BEB0-B3C8-4E7F41572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4043CC5C-D76B-E7C3-46DD-9AEAD243E9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74491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D9EFA48-83CF-B604-1741-13B98494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9D964505-A8A5-D748-FFD1-7054B9201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DE4C873-88E5-9E00-C68E-274256310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2909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9018536-9F65-869E-40F8-9FE24E67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B8AF82F-BE19-059F-C35F-E739AFE77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8B5FC06-5BCD-FADE-EB65-CB2642E73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7000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84607A7-8F75-EF60-460D-EF87D85A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524F226E-7814-81B0-4A5C-F93CB92D5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8EE7BCF4-266F-193E-2B1D-1E2003514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4593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A3CF776-7BAA-EB71-76C5-03455A3F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97EA537D-FC89-05D6-C55B-C16BA04EE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87A88577-3E34-2F3A-27E9-FF0EAE70E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8996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38BDBEA-7E06-6CB6-C349-69B83FF97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24B03F0-B483-E987-0D11-848DA0F38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3E405270-E86D-15E0-BBD1-BFE13D6A2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2747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FBB9868-68BC-4C7C-E992-65A76560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34834453-4696-1F96-99B3-62228C57C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C3031C99-B6B0-FE28-2219-6F9F5973A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08242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E73F47D9-3FE6-E8B0-076A-05C580282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B1556055-2EE9-D598-A1D7-F8793B69B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7590F555-9E21-A375-4D68-3650B091C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73665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0BE8484-9F28-3E69-74BF-F22E586B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EF703412-6878-B114-49EB-42F266F91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95C96D5B-48AF-EC2B-46AE-650E0B20A2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38026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75F5B3A-F854-B949-9660-67044AEB8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385C691E-60BC-2E6C-CA96-29D609F54B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13847B4-7B45-0169-53C9-F126C351A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98360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6D312B8-DC4A-B938-A605-F99C13E1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F836F83C-2D1C-C531-2C64-9AFE12C115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709CFE2-4BB5-F121-0665-D547C67B9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0408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47D9238-AE22-DAC5-76FC-131B41D5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84039C3-1C85-57D2-B085-0C6D2F7CA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47A18C0A-9BE9-D3AE-735D-510D72E23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09850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B64766B1-E7A8-634E-0CC8-C02E0DEA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88F7E0E-8F1C-A30C-BD17-CCD0D2249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DCD24CE-F775-7418-7AA2-A1F95EFFF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65256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81AD2BF-841D-F548-64B4-849150F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74A3E59B-2D2D-F452-A70A-FDB9C1E735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CB3A6BF-0217-54B8-E3AA-9174043637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7917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400CA6D6-AF66-510F-8A36-E60E0EC6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7A9DF7E-103C-B214-8DB0-0653E52F3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27D0872-F7FF-7FD1-44C9-D407062CB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38029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CF02DE5-0155-9665-CD22-426660E1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39043E1-19D2-FA06-C1A9-E259B4381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820895E8-8ADC-E301-1DA7-AB352A383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38538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821747D-6D88-451E-B02F-846941D8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A3BF2BC-E818-B255-FD17-A59C9F9A5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EEE997B6-EB6C-73C6-2177-4ECF64060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675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74384264-9892-540F-486C-E5F670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555C8610-A0F4-B044-7094-4B5D2DF24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FA4297E7-F1E5-55D4-024A-6C6B8FCBF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1838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661489DE-7931-F578-AC62-AF0C1D47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7EAC79C-A7AF-93C0-8C11-71FAB4AC3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F891E283-CD29-9958-12D3-EE7FD5330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51391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043581B-EB68-72B3-D5DB-909263597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ED39253E-3BA2-CCF3-FA55-4A6695322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6608DACF-8AE4-5BD5-9E58-9AE55F713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71886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0892118D-26EA-B918-4C45-247D06DF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44BCBBB6-5FFB-027B-BA15-3B6D0104F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C8EAB8D8-C535-4498-5531-22901A73B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24288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164AC141-FEEB-9199-CD22-B9BF9BEC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B894796-9E7B-1D5F-88B5-4935EE5EF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625EC07-41CF-A8BE-7DB5-500CDFD70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45000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C013A1D9-EC75-5CA9-C61A-928AF522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421762E4-FDFD-7B32-C18C-7B33228C3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6F8B4269-7E6B-0FF7-6867-16AB4CCAF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56211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A6F6DB1-DB7B-2CF4-9997-0BEEE0FF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F4E1B0B2-8050-1F9D-A791-0082B37E6B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FF412AE8-EAFD-0867-1AD4-8D4702BB6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2625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0528C32A-E274-3604-986D-31730754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BA81A3F-0E4C-D7A6-EFB0-498A45911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7EFA1E84-5A63-C3FB-AF48-D926850132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2175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C3916DC-2D89-4A9E-BAA5-CDE52976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4C3CA2B-D9A4-127B-AE40-995483862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F484E36-6104-9740-4F3B-724EF83F0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58537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B480B80-2A47-0EFB-5E03-E207436A2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573F753-1074-A4FF-C70E-D0234A12B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0750446-455F-C39F-B86E-06C812317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3723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0360CAB-89FA-B33A-F68B-808A0396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A4E2BD3-F481-9C05-F5A8-E977397B8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2BCAEC8B-140A-A065-B32E-99E4C8912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18403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AD475E9-8C30-3950-0040-33655A524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AB927D53-0A07-33AA-2FF6-73FDBCF84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954A2696-72C9-6F67-2F38-7A9107BD8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50361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7D726B4-D0C8-339A-4D3D-8CC322C6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CC4A0C1-F6EA-DCB5-1535-88D37FF92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FE101BD7-859F-0F60-DD70-20F2F90AE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965727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C3417AD8-E044-B76D-A85F-24089E60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15D36F5-4BCE-4D2E-98FF-7E0F672D2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7774219F-48A1-D18C-4360-1C4066A6C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68500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79695A8-95BC-ED66-4149-CC6393AC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5348A6A-06BA-89E7-538B-C3596ED88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FB9ADEDE-A97A-E424-62D4-6A1523AB6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46672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E3A17F9-8433-2EB3-329C-21161BF7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3E8C3BAA-A1B9-FFDA-95FA-3307AEEC71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6831BEF3-BA7B-7DDD-C7BA-4EF072ECE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035409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4222361-D04C-6C3F-522B-2CED112B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AFE43FB1-E352-FAB5-DC67-8681B7A4F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C8DCC2F-BD7B-452B-13F5-E235947A3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016827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C97EAD9-914E-2A67-E490-5815745A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CA54CB1-7FCB-3C54-C4EB-37BA6427D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04FE30E3-94AB-EC06-7D8B-8A2C138A6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500836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4BD3881-9A2E-CCCD-B882-E27EB511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653D98DC-3555-35EE-E07C-987F1A5A4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D81FB32-386A-9E32-A1F4-D7F8859B4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772374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5B9A24B-8A8F-D964-8F27-FCD53F72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B150170-51FB-0B01-BAE9-4183B8881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9CDBDBA7-A73A-67A7-48A0-F19EB9E64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0979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FB1CB621-8267-6ECE-B584-4E696998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17B2F862-D344-13D3-191D-05F9B0966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A4E06A03-436E-7FC8-26F9-5E8F773C9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3224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4397C623-3EF7-D12C-9B9D-7971D52D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342C3490-1C99-8A14-7561-09570B8C4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74EB2A89-97C2-A84B-EA44-58843C1DF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73366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FF57B81C-8B39-4656-BE5D-763531B8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0B3F722B-E20A-5722-FAE0-22DDEED1B5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6CE694E3-CC67-93E6-0D48-446911F31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347814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FB7DACAA-5880-B106-11FB-30E2023F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B2CB9187-3C9A-147D-DF28-CE8FC5202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4D9A8C9A-565B-7AD3-55C5-0A9FD80A85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30853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D7823988-2DE1-8EB6-341A-6588FD0E3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512FD0F7-A47E-0C84-DE56-81F29B149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72FB6F65-1260-EA17-A3F3-149EDAF7A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637848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8AD30B40-7F92-BCB5-960F-85B1F081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06737EBC-DA05-A7FB-18FF-BFEA973C3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2F03404C-9D72-EC46-ECDD-237F128C6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54499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926DC1FB-D206-1669-EBDB-483571B65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57C942EF-7A75-E563-550F-DFB60EFD29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593A62F9-0C78-D3A8-4B17-A3BD4AF11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2116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CA679A53-CC73-324D-98B5-D7DA594A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C80649B3-395A-5EC5-9A91-261D3C5EC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E53B31CE-B1DF-A27B-E0C9-5D5F03DA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19543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61FA53BF-F1A3-E25C-E6D7-A4F59BD6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CB805739-9E04-683E-10CB-CFAB7E53E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8005B65C-FDA7-03C2-29DD-D5C934270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899441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65ABBDA8-070F-272E-2509-F137A048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0519291B-1EA1-20E7-E843-880FC7732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FEB8AE12-5BCE-2A97-366D-7B9B53DB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889324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21403BBE-434E-5A9F-2EA2-479F66C08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5B2037AD-EF65-350C-D168-54C5626694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B18E8591-628B-996A-2AE5-713909798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964057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41843C70-8F88-1AE7-2875-C0FA6673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666E78D3-C02D-6525-09B5-477E55827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368ABDE3-7BC2-C23E-EAA8-050FE6CCC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093222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CD1D5E5-EAA9-50A9-CC66-6F4495FA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566D7B41-5DD8-AEB4-1A78-5DF8EBA40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BFCD8D6A-1F1E-4136-7427-E8E20B85D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073486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86BF4EBE-2BEF-238B-D2B8-38171AA0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54A0CE7C-9606-7C5C-75DE-933775A58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51207703-8E12-405E-75F9-3ECF03F11F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861356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E7A71CDC-37E6-0F37-5065-50F0FF24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336D293F-80D6-1125-DD88-747BDD148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98A29335-1174-6111-A705-019A302E5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620641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2A3CCDC0-2BFE-D26E-7239-D439E235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12F89101-7EC4-CA26-F66F-9134711DC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00752C1F-1FD0-D568-9EC8-9E3AC97C4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36678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5F195E21-D5F3-DBBD-46DF-E28BD6B2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3CB43020-6730-8708-7A0B-408A2E662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6ED422BC-A12B-D1EF-EB37-25EBE1506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475279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8DF4D194-9696-2789-84F4-999FBE46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C1FE1E28-9A01-A6B3-E6AC-BFFE3860C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E75F9303-3D97-F6AF-EB4A-DFB7F260E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858492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9E3C2FA3-8B02-CA7E-8932-BD8F3DD3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A4592C53-0D1A-1EBB-A644-043C2E6AD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784EEEF0-1AB5-647D-9949-18BD045361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004702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33136F6F-8664-4C53-3D48-EB870306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54845E5C-C6DC-8A0F-ED98-CAB946609B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119D1356-E447-71B3-8486-241E3F758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344426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94885D21-5BFC-0E90-128D-006A7F36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99252670-C206-9B6F-8B3F-F997F6C85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474070E0-A883-DC28-52EB-7C8F5FE2C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347398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01720024-E719-2DDE-B08C-85BEB01D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D39C4DD2-62BB-8AD0-94F6-E5B217D52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7180F6C0-7E37-F444-329D-CE72771CA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83507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445766E9-9D29-148A-A7B5-E7055964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E60A3670-FA01-5E80-DEC0-F50301015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396156A1-522C-2E0F-E995-494E26F02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289730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AC62BE47-A444-3562-E552-82177D3C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3FD1F15A-66A6-D051-3D33-2F5A34660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5802BD1E-C6D2-B91A-9AC7-A115E745C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376242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649CB66B-A176-63CB-0A15-50F3EACB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384A4CCB-B852-3231-174F-C22C80F2D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>
            <a:extLst>
              <a:ext uri="{FF2B5EF4-FFF2-40B4-BE49-F238E27FC236}">
                <a16:creationId xmlns:a16="http://schemas.microsoft.com/office/drawing/2014/main" id="{D532FF30-C36D-436E-CB2F-010867869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837642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inhvien.dau.edu.vn/sinh-vien-dang-nhap.html" TargetMode="Externa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inhvien.dau.edu.vn/sinh-vien-dang-nhap.html" TargetMode="External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hyperlink" Target="https://phatnguoi.com/" TargetMode="External"/><Relationship Id="rId4" Type="http://schemas.openxmlformats.org/officeDocument/2006/relationships/image" Target="../media/image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hyperlink" Target="https://demo.guru99.com/test/newtours/register.php" TargetMode="External"/><Relationship Id="rId4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lonhadat.com.vn/" TargetMode="External"/><Relationship Id="rId4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sgt.vn/tra-cuu-phuong-tien-vi-pham.html" TargetMode="External"/><Relationship Id="rId4" Type="http://schemas.openxmlformats.org/officeDocument/2006/relationships/image" Target="../media/image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hyperlink" Target="https://jsonplaceholder.typicode.com/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286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113278" y="1826395"/>
            <a:ext cx="796544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ROBOTIC PROCESS AUTOMATION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486399" y="2715628"/>
            <a:ext cx="12192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96730" y="3236873"/>
            <a:ext cx="561885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Tự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động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hóa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quy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trình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0" y="5638199"/>
            <a:ext cx="1219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Trường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Đại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học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Kiến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trúc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Đà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Nẵng</a:t>
            </a:r>
            <a:endParaRPr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0" y="6081397"/>
            <a:ext cx="1219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Khoa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Công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nghệ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Thông tin</a:t>
            </a: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286571" y="4264476"/>
            <a:ext cx="56188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Giảng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viên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: PGC.TS. </a:t>
            </a:r>
            <a:r>
              <a:rPr lang="en-US" sz="15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Trần</a:t>
            </a:r>
            <a:r>
              <a:rPr lang="en-US" sz="15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Mạnh</a:t>
            </a:r>
            <a:r>
              <a:rPr lang="en-US" sz="15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Huy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286571" y="4784377"/>
            <a:ext cx="561885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Học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kỳ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: </a:t>
            </a:r>
            <a:r>
              <a:rPr lang="en-US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II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-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Năm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học</a:t>
            </a:r>
            <a:r>
              <a:rPr lang="en-US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: 2025-2026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7273FC82-A524-287D-700C-A4A49DB9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8B9D6E61-C20E-1D87-6D2C-E5D1FE2D9D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B6D03D91-0EBB-B0C6-7A6E-17EC4B686CBE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34DF7B45-2D06-D60B-8A2E-9D0EF458D35A}"/>
              </a:ext>
            </a:extLst>
          </p:cNvPr>
          <p:cNvSpPr txBox="1"/>
          <p:nvPr/>
        </p:nvSpPr>
        <p:spPr>
          <a:xfrm>
            <a:off x="2987041" y="2481841"/>
            <a:ext cx="621776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CHƯƠNG III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8652007C-78AC-2B2D-1DA1-B06DE9481EA1}"/>
              </a:ext>
            </a:extLst>
          </p:cNvPr>
          <p:cNvSpPr txBox="1"/>
          <p:nvPr/>
        </p:nvSpPr>
        <p:spPr>
          <a:xfrm>
            <a:off x="2377290" y="3796708"/>
            <a:ext cx="743727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Ự ĐỘNG HÓA VỚI PYTHON</a:t>
            </a:r>
            <a:endParaRPr lang="vi-V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236135E0-9112-AB96-AE55-E4028E5E9003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33045-4C63-911F-FAAA-F133D8CF1D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3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2019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00216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9850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96788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333500" y="637401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MỤC TIÊU CHƯƠNG III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866899" y="1962150"/>
            <a:ext cx="980653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Mục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tiêu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1: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Xử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lý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dữ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liệu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với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Pandas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866900" y="3002160"/>
            <a:ext cx="9334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Mục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tiêu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2: Web Automation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cơ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bản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866900" y="3969842"/>
            <a:ext cx="9334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Mục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tiêu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3: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Làm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việc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với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API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bằng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Python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866900" y="4906684"/>
            <a:ext cx="9334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Mục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tiêu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4: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Đóng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gói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và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triển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khai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ứng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65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dụng</a:t>
            </a:r>
            <a:r>
              <a:rPr lang="en-US" sz="165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Python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7ADB45-FB02-12F6-2780-D6CC68A0C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9C51686-0EC5-BEB5-2A07-A0A2CFAC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>
            <a:extLst>
              <a:ext uri="{FF2B5EF4-FFF2-40B4-BE49-F238E27FC236}">
                <a16:creationId xmlns:a16="http://schemas.microsoft.com/office/drawing/2014/main" id="{88F87489-0E31-CE9E-D093-23BB934E03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45C75882-CCBE-487C-E0A2-16B5C8C38D54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CHƯƠNG III: TỰ ĐỘNG HÓA VỚI PYTHON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4C44D9F5-3121-834B-984B-29A83BDF6BDC}"/>
              </a:ext>
            </a:extLst>
          </p:cNvPr>
          <p:cNvSpPr txBox="1"/>
          <p:nvPr/>
        </p:nvSpPr>
        <p:spPr>
          <a:xfrm>
            <a:off x="1485900" y="2532385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Xử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lý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Python Pandas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8" name="Google Shape;118;p15" descr="image.png">
            <a:extLst>
              <a:ext uri="{FF2B5EF4-FFF2-40B4-BE49-F238E27FC236}">
                <a16:creationId xmlns:a16="http://schemas.microsoft.com/office/drawing/2014/main" id="{2EC82C8B-99A4-27D0-28E0-E19CA43394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7;p15">
            <a:extLst>
              <a:ext uri="{FF2B5EF4-FFF2-40B4-BE49-F238E27FC236}">
                <a16:creationId xmlns:a16="http://schemas.microsoft.com/office/drawing/2014/main" id="{BCE1CB3C-FE27-0E48-885A-5A5C22F0DA80}"/>
              </a:ext>
            </a:extLst>
          </p:cNvPr>
          <p:cNvSpPr txBox="1"/>
          <p:nvPr/>
        </p:nvSpPr>
        <p:spPr>
          <a:xfrm>
            <a:off x="1485900" y="3350270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3.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Tương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tác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website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bằng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Selenium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Google Shape;117;p15">
            <a:extLst>
              <a:ext uri="{FF2B5EF4-FFF2-40B4-BE49-F238E27FC236}">
                <a16:creationId xmlns:a16="http://schemas.microsoft.com/office/drawing/2014/main" id="{E343E2E7-8240-AD4C-EB80-4F84DFD275B7}"/>
              </a:ext>
            </a:extLst>
          </p:cNvPr>
          <p:cNvSpPr txBox="1"/>
          <p:nvPr/>
        </p:nvSpPr>
        <p:spPr>
          <a:xfrm>
            <a:off x="1485900" y="1714500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Giới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thiệu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về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r>
              <a:rPr lang="en-US" sz="27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3FC9EB-1AE4-3D86-B71D-245699B7C5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Google Shape;117;p15">
            <a:extLst>
              <a:ext uri="{FF2B5EF4-FFF2-40B4-BE49-F238E27FC236}">
                <a16:creationId xmlns:a16="http://schemas.microsoft.com/office/drawing/2014/main" id="{DD9DF19B-D951-3A0D-78C7-A40DBA6EFB77}"/>
              </a:ext>
            </a:extLst>
          </p:cNvPr>
          <p:cNvSpPr txBox="1"/>
          <p:nvPr/>
        </p:nvSpPr>
        <p:spPr>
          <a:xfrm>
            <a:off x="1485900" y="4168155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Tương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tác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API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bằng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Request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Google Shape;117;p15">
            <a:extLst>
              <a:ext uri="{FF2B5EF4-FFF2-40B4-BE49-F238E27FC236}">
                <a16:creationId xmlns:a16="http://schemas.microsoft.com/office/drawing/2014/main" id="{3DFCDBB0-519B-3B52-F790-A07A9703CEFC}"/>
              </a:ext>
            </a:extLst>
          </p:cNvPr>
          <p:cNvSpPr txBox="1"/>
          <p:nvPr/>
        </p:nvSpPr>
        <p:spPr>
          <a:xfrm>
            <a:off x="1485900" y="4986040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5.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gửi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Email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SMTP 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Google Shape;117;p15">
            <a:extLst>
              <a:ext uri="{FF2B5EF4-FFF2-40B4-BE49-F238E27FC236}">
                <a16:creationId xmlns:a16="http://schemas.microsoft.com/office/drawing/2014/main" id="{C6F3072E-F979-452C-3196-5827137F0765}"/>
              </a:ext>
            </a:extLst>
          </p:cNvPr>
          <p:cNvSpPr txBox="1"/>
          <p:nvPr/>
        </p:nvSpPr>
        <p:spPr>
          <a:xfrm>
            <a:off x="1485900" y="5803925"/>
            <a:ext cx="108013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6.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Đóng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gói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chương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7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trình</a:t>
            </a:r>
            <a:r>
              <a:rPr lang="en-US" sz="27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14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 GIỚI THIỆU TỰ ĐỘNG HÓA PYTHON</a:t>
            </a:r>
          </a:p>
        </p:txBody>
      </p:sp>
      <p:sp>
        <p:nvSpPr>
          <p:cNvPr id="157" name="Google Shape;157;p17"/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1A8E8E-5919-3049-EF7C-96FC8C9CFD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4F15AA0-2096-F17E-5EF1-D1360DBC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F551549D-0A2D-239E-6A0A-035DF1681D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264F56A-713A-5829-B0F6-51B270501B8B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TỰ ĐỘNG HÓA PYTHON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6D1425E-301C-9EAB-8408-5AFF8317E5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0E8F6585-709B-1A2D-7B6D-096337620F2C}"/>
              </a:ext>
            </a:extLst>
          </p:cNvPr>
          <p:cNvSpPr txBox="1"/>
          <p:nvPr/>
        </p:nvSpPr>
        <p:spPr>
          <a:xfrm>
            <a:off x="1333499" y="1866900"/>
            <a:ext cx="945556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việc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dùng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chương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trình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để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thay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thế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việc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lặp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lặp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lại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99245C-1E40-5CC6-B487-5AD2B9A830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E86378C7-1C8D-04FB-E393-033B0D79BB97}"/>
              </a:ext>
            </a:extLst>
          </p:cNvPr>
          <p:cNvSpPr txBox="1"/>
          <p:nvPr/>
        </p:nvSpPr>
        <p:spPr>
          <a:xfrm>
            <a:off x="1368217" y="3869464"/>
            <a:ext cx="945556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để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viết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chương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trình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8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26ECD71-FD5D-556E-5A51-E8BE7569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B50AC8F-75C8-A551-54FA-AD8F1E8F23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D493B9E-CBD9-F21B-164C-1EB197BB0BB1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TỰ ĐỘNG HÓA PYTHON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23FA77E2-C9FA-7AC3-726E-B16BFBFA81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E1B3E1F-79B6-AF21-0C9C-066E4284C13B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Vì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chọn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F12703FB-0644-857B-D1BD-1672BB53D282}"/>
              </a:ext>
            </a:extLst>
          </p:cNvPr>
          <p:cNvSpPr/>
          <p:nvPr/>
        </p:nvSpPr>
        <p:spPr>
          <a:xfrm>
            <a:off x="1333500" y="2769995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CB2CB624-8778-3513-3BAC-2548389C6299}"/>
              </a:ext>
            </a:extLst>
          </p:cNvPr>
          <p:cNvSpPr txBox="1"/>
          <p:nvPr/>
        </p:nvSpPr>
        <p:spPr>
          <a:xfrm>
            <a:off x="1523999" y="2604962"/>
            <a:ext cx="99006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Dễ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học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–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dễ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đọc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–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dễ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viết</a:t>
            </a:r>
            <a:endParaRPr lang="en-US" sz="2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89D4A714-95A8-3609-3688-4F0DFD8F44D3}"/>
              </a:ext>
            </a:extLst>
          </p:cNvPr>
          <p:cNvSpPr txBox="1"/>
          <p:nvPr/>
        </p:nvSpPr>
        <p:spPr>
          <a:xfrm>
            <a:off x="1600200" y="3406492"/>
            <a:ext cx="9824484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Cú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pháp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gần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với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tiếng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anh</a:t>
            </a:r>
            <a:endParaRPr lang="en-US" sz="2400" dirty="0">
              <a:solidFill>
                <a:srgbClr val="475569"/>
              </a:solidFill>
              <a:latin typeface="Verdana" panose="020B0604030504040204" pitchFamily="34" charset="0"/>
              <a:ea typeface="Verdana" panose="020B0604030504040204" pitchFamily="34" charset="0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Ít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kí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tự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phức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tạp</a:t>
            </a:r>
            <a:endParaRPr lang="en-US" sz="2400" dirty="0">
              <a:solidFill>
                <a:srgbClr val="475569"/>
              </a:solidFill>
              <a:latin typeface="Verdana" panose="020B0604030504040204" pitchFamily="34" charset="0"/>
              <a:ea typeface="Verdana" panose="020B0604030504040204" pitchFamily="34" charset="0"/>
              <a:cs typeface="Lato"/>
              <a:sym typeface="Lat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Phù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hợp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cho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người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mới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bắt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đầu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79D858-E00E-0910-717E-E06F342691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1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8B6EC00-561B-4A29-C014-A6622C1B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D10AEF0-986B-2D7D-777A-D57B3D6289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81BE4CB9-AAE7-75D3-2E02-BDD094399ACE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TỰ ĐỘNG HÓA PYTHON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26C22E59-3441-74D7-F6BB-5A3AB9A649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F644096-DFB0-5789-8C6A-042F09A6C94A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Vì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chọn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C75CA13D-8F6B-54F1-3EE0-34B72B7768CE}"/>
              </a:ext>
            </a:extLst>
          </p:cNvPr>
          <p:cNvSpPr/>
          <p:nvPr/>
        </p:nvSpPr>
        <p:spPr>
          <a:xfrm>
            <a:off x="1333500" y="2769995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57E60D5-EA8E-936C-5E63-79B454ECA03A}"/>
              </a:ext>
            </a:extLst>
          </p:cNvPr>
          <p:cNvSpPr txBox="1"/>
          <p:nvPr/>
        </p:nvSpPr>
        <p:spPr>
          <a:xfrm>
            <a:off x="1523999" y="2604962"/>
            <a:ext cx="99006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Đọc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và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xử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lý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dữ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liệu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từ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file CSV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bằng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Python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3B492C-E01F-A88F-2345-8865D20DDC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B06784C-4864-80BD-6ECC-750C35249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596" y="4142268"/>
            <a:ext cx="8818807" cy="106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63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2847BBF-B981-5C64-A4C5-C50280659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ED30DC8A-73A1-FD4B-F645-A2401D2DCB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40CA3E57-8A85-49CD-066F-109BE3BE4944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TỰ ĐỘNG HÓA PYTHON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3794B7E-2923-EB20-94E8-D20749F107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B57F9EDE-CDE5-F561-989D-CEF7422789BF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Vì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chọn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B8F4CFF2-C489-B488-EE24-95A6C8236EDA}"/>
              </a:ext>
            </a:extLst>
          </p:cNvPr>
          <p:cNvSpPr/>
          <p:nvPr/>
        </p:nvSpPr>
        <p:spPr>
          <a:xfrm>
            <a:off x="1333500" y="2769995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0A7D3106-8630-B3D7-A669-6FBBFF4118DF}"/>
              </a:ext>
            </a:extLst>
          </p:cNvPr>
          <p:cNvSpPr txBox="1"/>
          <p:nvPr/>
        </p:nvSpPr>
        <p:spPr>
          <a:xfrm>
            <a:off x="1523999" y="2604962"/>
            <a:ext cx="99006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Đọc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và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xử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lý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dữ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liệu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từ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file CSV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bằng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Java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AB2DF0-C4EC-A599-0C6C-37E49FD1D3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C4F0BE0-DB87-A209-4D9C-8494C058C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547" y="3429000"/>
            <a:ext cx="3972859" cy="297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54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26E2B42-DA82-B6B6-0CCA-5FB3C087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5BD1F12E-AADA-EAE4-0A9B-5353873C00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876B17F-EED1-A0CD-0178-276D35A8D10C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TỰ ĐỘNG HÓA PYTHON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33F7822-252B-4842-8681-AFB00F44A6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A261F13B-1435-A9DF-54FE-C45B9AE7DE79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Vì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chọn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7C5D0C1-AD93-0553-B034-28B85F305255}"/>
              </a:ext>
            </a:extLst>
          </p:cNvPr>
          <p:cNvSpPr/>
          <p:nvPr/>
        </p:nvSpPr>
        <p:spPr>
          <a:xfrm>
            <a:off x="1333500" y="2769995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7F4EA692-AFC8-4AF2-1F4B-E860436C5652}"/>
              </a:ext>
            </a:extLst>
          </p:cNvPr>
          <p:cNvSpPr txBox="1"/>
          <p:nvPr/>
        </p:nvSpPr>
        <p:spPr>
          <a:xfrm>
            <a:off x="1523999" y="2604962"/>
            <a:ext cx="99006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Hệ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sinh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thái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thư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viện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phong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phú</a:t>
            </a:r>
            <a:endParaRPr lang="en-US" sz="2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28F052-07FF-8E8A-1046-32F81C038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8B72A2E-7363-21F7-BA62-CE6622216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080" y="3468289"/>
            <a:ext cx="4513840" cy="261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547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49C598BB-5F74-18E2-8B50-541095AF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39652708-448A-2AC9-1432-698B3C07B1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1EFE222-FB6A-9264-BC09-A641483A08E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TỰ ĐỘNG HÓA PYTHON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D8CA2458-1863-7843-2EDB-BE1DCBA849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1526BD44-5400-1DFC-23D4-3EA2ABB93CFE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Vì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chọn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397BC64E-694A-9D50-376F-14BF7474B695}"/>
              </a:ext>
            </a:extLst>
          </p:cNvPr>
          <p:cNvSpPr/>
          <p:nvPr/>
        </p:nvSpPr>
        <p:spPr>
          <a:xfrm>
            <a:off x="1333500" y="2769995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B8BCBA4A-0CA7-5450-D03D-FE6128E493AE}"/>
              </a:ext>
            </a:extLst>
          </p:cNvPr>
          <p:cNvSpPr txBox="1"/>
          <p:nvPr/>
        </p:nvSpPr>
        <p:spPr>
          <a:xfrm>
            <a:off x="1523999" y="2604962"/>
            <a:ext cx="99006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Chạy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đa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nền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tảng</a:t>
            </a:r>
            <a:endParaRPr lang="en-US" sz="2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357259-7ACF-A699-7B28-1636110688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D4A61BB-1FC3-BBE5-21BD-358DD3065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879" y="3320041"/>
            <a:ext cx="4396241" cy="280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29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D2CE85B-1DCE-C168-8248-2F85369B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8085EAFB-A137-7BC7-0DB1-B14529BFEC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CD4C2E1E-D26A-AD40-3E8E-F3415525F9A0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1.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GIỚI THIỆU TỰ ĐỘNG HÓA PYTHON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C68BA5A-DD26-F5C4-DF31-FBDEE17536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3155A79B-FB28-3D7B-53DF-F023D22C8216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Vì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chọn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tự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hóa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FCC9A7E0-F153-2FB6-2EE8-9F491A8F54A5}"/>
              </a:ext>
            </a:extLst>
          </p:cNvPr>
          <p:cNvSpPr/>
          <p:nvPr/>
        </p:nvSpPr>
        <p:spPr>
          <a:xfrm>
            <a:off x="1333500" y="2769995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AC48D52C-E965-0D75-21CE-5E04E0332421}"/>
              </a:ext>
            </a:extLst>
          </p:cNvPr>
          <p:cNvSpPr txBox="1"/>
          <p:nvPr/>
        </p:nvSpPr>
        <p:spPr>
          <a:xfrm>
            <a:off x="1523999" y="2604962"/>
            <a:ext cx="99006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Tiết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kiệm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thời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gian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và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chi </a:t>
            </a: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phí</a:t>
            </a:r>
            <a:endParaRPr lang="en-US" sz="2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80926-5950-DDE1-229C-64FE7C1B64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3318" name="Picture 6" descr="Điều cần tránh trong Marketing giúp bạn tiết kiệm thời gian và chi phí -  Dịch vụ quản trị web - Thiết kế web - Đánh giá web">
            <a:extLst>
              <a:ext uri="{FF2B5EF4-FFF2-40B4-BE49-F238E27FC236}">
                <a16:creationId xmlns:a16="http://schemas.microsoft.com/office/drawing/2014/main" id="{29596846-65CE-FD14-93F6-5D19929EA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161" y="3771305"/>
            <a:ext cx="3923677" cy="261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68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211FB494-31B1-522D-7629-CDF8A5AE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9D3F99FB-21E1-6B42-002D-7B6D4C2DAC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950DF91B-EF32-6A13-35AA-DF2040926D0B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B788AC26-12E7-1E5A-0DDC-C6AA6E58D724}"/>
              </a:ext>
            </a:extLst>
          </p:cNvPr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 PANDAS PYTHON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117A3A14-5705-3B19-5DFF-58D6BF1CEBC2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EB2D68-69FD-F480-D647-70413CDA5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30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D31D694-D7CA-1C8F-49E9-42BFB978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DFFD2656-6E8A-2521-5273-0D117D1749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A3EEC43E-31EC-1005-D6F6-D8D283B970B9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PANDAS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9A0D2F75-288A-274E-67DB-3B8017E19D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C4C42B0E-5452-1116-4779-B4290E5E6217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Pandas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gì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tại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dùng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?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1F1DF9F4-EA37-502B-63B1-92E01D1850DD}"/>
              </a:ext>
            </a:extLst>
          </p:cNvPr>
          <p:cNvSpPr/>
          <p:nvPr/>
        </p:nvSpPr>
        <p:spPr>
          <a:xfrm>
            <a:off x="1333500" y="2505075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54EFFA8B-70AD-8A8C-8DF4-5135F415685E}"/>
              </a:ext>
            </a:extLst>
          </p:cNvPr>
          <p:cNvSpPr txBox="1"/>
          <p:nvPr/>
        </p:nvSpPr>
        <p:spPr>
          <a:xfrm>
            <a:off x="1523999" y="2340042"/>
            <a:ext cx="990068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Thư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viện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cho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xử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lý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và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phân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tích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dữ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liệu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69CBF44E-D9BF-AE99-B04D-9CBC7B3131FB}"/>
              </a:ext>
            </a:extLst>
          </p:cNvPr>
          <p:cNvSpPr/>
          <p:nvPr/>
        </p:nvSpPr>
        <p:spPr>
          <a:xfrm>
            <a:off x="1333500" y="4318396"/>
            <a:ext cx="76200" cy="7620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285CF73D-8834-F8F5-E15B-C734BA6941E4}"/>
              </a:ext>
            </a:extLst>
          </p:cNvPr>
          <p:cNvSpPr txBox="1"/>
          <p:nvPr/>
        </p:nvSpPr>
        <p:spPr>
          <a:xfrm>
            <a:off x="1524000" y="4096848"/>
            <a:ext cx="982448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Xử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lý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dữ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liệu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dạng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bảng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hiệu</a:t>
            </a:r>
            <a:r>
              <a:rPr lang="en-US" sz="2400" dirty="0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475569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quả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2A9CA5-EFD9-D91E-4ACD-A36E62767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 descr="pandas (software) - Wikipedia">
            <a:extLst>
              <a:ext uri="{FF2B5EF4-FFF2-40B4-BE49-F238E27FC236}">
                <a16:creationId xmlns:a16="http://schemas.microsoft.com/office/drawing/2014/main" id="{BCD46EF9-19B4-00AE-23FB-559350F7B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5" y="3846098"/>
            <a:ext cx="336232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70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F32EE34-6D61-1B4D-0082-76864A7C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62D5AD2-9736-9978-714F-D25906A76A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2773A4AC-BB8A-2629-A725-0DE8276AB6C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2.</a:t>
            </a:r>
            <a:r>
              <a:rPr lang="en-US" sz="36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 PANDAS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7E84456A-F7CC-F536-136A-AC58EAD968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A84F7452-3A3A-7356-3D9C-7A9669AF1F08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Cài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đặt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: 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pip install pandas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openpyxl</a:t>
            </a:r>
            <a:endParaRPr sz="2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2C0216-8273-E73C-B871-D96658B19B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BC9A2F5E-F897-284C-9B72-83D7E5C15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582" y="3634757"/>
            <a:ext cx="7976836" cy="56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806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3FF70A6-862C-5E46-62D9-2D4F5A33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930C9027-F5D2-962B-09EC-868B7531E1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EB9DE8B1-B344-68AD-4182-3D621A00172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SERIES – DỮ LIỆU MỘT CHIỀU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4B32897-2812-F134-CDC9-C5CBDC2927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CE7AF99-6FB9-771D-DB30-0DDAEFFB7816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Series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78DB9E-D186-52E6-4B45-0B461DE98D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A0036-22E1-ADF6-6D7F-340DE19D3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1172" y="2720309"/>
            <a:ext cx="3949656" cy="276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83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2900E10-2A66-54A4-BE29-23BE2D2B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1346635F-533F-39CE-EC9F-B5F2E7975E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B13D190-D8F9-9D86-BE24-9EF3C232EEA7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SERIES – DỮ LIỆU MỘT CHIỀU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B8FABA8-D377-768D-7D39-CD21E1625B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DBA652AC-A72B-8D6C-4C15-CB4F0011B1F1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Series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B71A9A-5105-EFAA-6909-39637FE05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16386" name="Picture 2" descr="Pandas Series — Practical Data Science with Python">
            <a:extLst>
              <a:ext uri="{FF2B5EF4-FFF2-40B4-BE49-F238E27FC236}">
                <a16:creationId xmlns:a16="http://schemas.microsoft.com/office/drawing/2014/main" id="{1E4380CC-8BD1-E297-5095-2D34E0FF5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326" y="2442417"/>
            <a:ext cx="5343347" cy="370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764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D5088DB-09C6-8428-DE63-FE2D7A18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5E52D951-F950-3411-9FDC-5E5E5D6E4F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0805DD8A-08CB-77C0-80F0-407B33808932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SERIES – DỮ LIỆU MỘT CHIỀU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A0795F32-F250-81B1-D23E-AB2D26ECB8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2708799C-B668-909D-2C48-E754B1CCF492}"/>
              </a:ext>
            </a:extLst>
          </p:cNvPr>
          <p:cNvSpPr txBox="1"/>
          <p:nvPr/>
        </p:nvSpPr>
        <p:spPr>
          <a:xfrm>
            <a:off x="1333499" y="1866900"/>
            <a:ext cx="1023323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- Danh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sách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điểm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points = [8.5, 7.0, 9.0, 6.5]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- Danh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sách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Tên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names = ['An', 'Bình', 'Chi', 'Dung’]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ECD4E-3E99-B9DD-1ED6-2316900B07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26268-F34B-1B5F-38FF-403BD8AD8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941" y="3320525"/>
            <a:ext cx="10144836" cy="249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30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5923BD4E-F7C8-0DD9-5436-000E64B5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F15F950-B640-9F31-E893-F9CACB1030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E98D0E91-4203-FDFC-6F04-9084F072A97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DATAFRAME – DỮ LIỆU HAI CHIỀU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1345C429-3218-1495-6505-76D2674FDB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B706FA2-E40F-8D57-E2D7-A4B98D5AAE81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Dataframe là dữ liệu hai chiều(dạng bảng)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670215-C2F6-5429-ED68-B47531A21B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B121D8-2398-0505-9674-C40B617FF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409" y="2432513"/>
            <a:ext cx="7387181" cy="372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64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A15F4B2D-5DF1-59AC-76F3-42E07730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550BEC9-2E4A-E1A6-5FB8-42D46ECDFE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418E806B-86F8-2391-6133-F5C84EC904C0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DATAFRAME – DỮ LIỆU HAI CHIỀU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8D93AAB-1BD1-59CA-7D12-C0B98BB994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31DB1FDC-0B97-99E3-DA41-D8337C19CF1C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bảng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tin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điểm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E6C0C9-927C-8431-5B1C-F3C835D720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DCF46-F2D0-E5BB-80BB-DC26783F0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352" y="2741210"/>
            <a:ext cx="5761295" cy="29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1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93211F01-A9ED-25A2-354F-436E0D8A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FC95273-235A-F55C-363D-05C8C67A42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C8EB3F82-E8F5-BD8F-EDAD-9DBF8972D45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DATAFRAME – DỮ LIỆU HAI CHIỀU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BE62CDE-7712-EE0F-E072-58F782F345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6BC39C33-C16C-1577-579B-8E4F1EBFAF6B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Tạo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DataFrame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từ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bảng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tin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điểm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5CA351-9937-6434-16C1-79331D7E22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E6A0D-0C34-F9E6-C1B1-5B86AA306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014" y="2898750"/>
            <a:ext cx="8957972" cy="262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11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5D5F00C6-7644-B558-8D9C-1A7DDBEC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463F642-77ED-697B-CF29-8DF0333D71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E1661F22-F00C-0D29-1BB1-5599FCDE547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TRUY XUẤT DỮ LIỆU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D398C37-6241-70E2-64F1-4597687946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D8D77B2C-E25F-3BA4-C906-3286167F5414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Truy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xuất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theo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,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hàng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,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vị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trí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5922C0-FA9E-746B-E2A8-AE702393C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74D3E8-C943-F601-3997-B6439027C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869" y="2419336"/>
            <a:ext cx="4230262" cy="393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05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B5B1BF8-AB4A-83F2-DA69-84DB89BE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858FEE5-4DE3-D8FC-9470-1D505E2178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82D8A6E3-722C-8FE8-8219-2974CF9C3AE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PANDAS FILTER - LỌC DỮ LIỆU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4AD3A7B-AA36-9B20-3255-B76319342D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6A683408-B2B4-06B9-C9FF-50F303A4C4D4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Lọc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CC4C49-6CBE-8FEA-81DD-49419FD87C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543A8-E012-25C9-AAB5-28F7E697A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906" y="2555192"/>
            <a:ext cx="7570188" cy="313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20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798C996-979F-E3D5-8809-1A9AA494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AEEC785B-AF18-B7C9-819C-B71CB18D0D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3BB18154-1115-DBEB-C2C8-DBD8FB0C46D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PANDAS FILTER - LỌC DỮ LIỆU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C1B4D085-EF34-1045-EEAA-A011FB8294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820E680-65A7-9CCE-E72C-F995E0A9FBCC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Lọc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C43D3C-AB3B-52BB-71F1-BEB64AF561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C5DCE-4B7E-E656-8017-070AB8059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964" y="2865719"/>
            <a:ext cx="6732071" cy="271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62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3583240-DE3D-6CB4-0B46-A20FF882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FAFED91-8572-492E-2B92-582BC002D5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68F58FF3-323F-3A36-9E21-1889B1C3922C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PANDAS </a:t>
            </a:r>
            <a:r>
              <a:rPr lang="en-US" sz="36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NaN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A03C0A1D-B808-BE6E-9AC4-744D7D30D3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D360BE88-0298-1365-D9EA-17BF9BC6E760}"/>
              </a:ext>
            </a:extLst>
          </p:cNvPr>
          <p:cNvSpPr txBox="1"/>
          <p:nvPr/>
        </p:nvSpPr>
        <p:spPr>
          <a:xfrm>
            <a:off x="1333500" y="1866900"/>
            <a:ext cx="9143644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- </a:t>
            </a:r>
            <a:r>
              <a:rPr lang="en-US" sz="28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NaN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Not a Number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-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Giá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trị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bị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thiếu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trong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8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8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16082-7D10-4A84-549E-DB4ADDC42E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43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D5B269A-6B8E-93A5-3FD1-FF27501E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011A7B8D-3CBF-EEA9-0FC0-7A9222D0DA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CB717C1-BA23-64B3-F49D-3D69F6819B6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PANDAS </a:t>
            </a:r>
            <a:r>
              <a:rPr lang="en-US" sz="36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NaN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83D0E5E6-2629-21FA-BDBC-094314A142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737653F9-02A1-AAB4-F3BF-5438E03680C0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NaN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= Not a Number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D614F2-BB78-ABA7-992C-10F0DF1CC9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A1410-A1AB-97ED-3C07-1971DDC11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281" y="2506209"/>
            <a:ext cx="6979437" cy="317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32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AC7505D6-7478-7A48-D437-9C077FFC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E45F546F-7595-36DE-AB1A-0DAD58593C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1DC5FD1-B87D-F453-ADDF-1EC8B7247BCF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PANDAS </a:t>
            </a:r>
            <a:r>
              <a:rPr lang="en-US" sz="36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NaN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8731F01-3AD1-C5D0-E0AC-2AF52B2BDC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8CD4776A-C32B-8009-4379-5BB3F21F35FD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lý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null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92025C-0267-78F6-C914-3E4E48739D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117FC-EB57-0ED5-1885-DFCD62F8A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501" y="2614424"/>
            <a:ext cx="6152998" cy="32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24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AE403A4-A627-956A-70F6-E6C2E093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3853360-0BD0-D1C6-71E5-24C9075B1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F20EEDC7-04AF-146C-8F84-9D73C784759D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GROUPBY IN PANDAS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2FC2E650-076B-95D1-AAA2-5633E62AA0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B11E75F5-A350-405A-C9BC-92446231FF8F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GroupBy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– Chia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thành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nhóm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007AD2-D411-F154-7F9A-E4E520DCF0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E289C2-6BBD-ADDE-B7A8-3F74DA3C6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134" y="2717690"/>
            <a:ext cx="2777731" cy="340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43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5F9FF6D-D08C-8044-1E67-969121DB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FF07082B-197A-6D34-6D49-92198F3625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0B152D7B-4ED9-2C97-F771-7F36FA7FB22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PANDAS GROUPBY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CD5A6CA-AAA9-A83F-B38A-3C0B4750C2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356F59F-4811-50C9-63A8-40BA6D331231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Thực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hành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9C1B71-A1DF-F56A-71C0-78BA9E8BC7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59D2C-A978-6447-8F37-FB6149E31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652" y="2977634"/>
            <a:ext cx="7668695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42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BA29D27-EB77-E151-EBD4-D421DF92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94A65A8-2425-A2F3-6C89-FF6999EA94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8CCE0DC8-D470-9DA6-D497-111B88E7DAE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IN PANDAS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C090CEC-C8FC-AB33-846A-5868EDBD34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AA773D9D-DBF7-F91B-B3F9-37ED1A0EC810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Pandas –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ghép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2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DataFrame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lại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nhau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0F9D7B-3E2D-4A45-E2C0-503BC37DAF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01837-0D95-104E-6A27-103FBD64F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2573" y="2852944"/>
            <a:ext cx="790685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66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148236A1-4A54-C311-2C88-C7CA9C3D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1DA49B75-A270-C00D-1FDB-5EF77B8E6B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92532A31-1938-7993-42BC-B8ED09C23197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IN PANDAS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9F16F645-99CF-475A-6954-B91F0A2C28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690C5691-BC40-DDB1-5DEE-80ECF6D7FF58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Pandas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BA321A-F5FD-EE4A-5433-64A5022CF5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741DE-71D3-EB35-0B1A-E0239B934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659" y="2595998"/>
            <a:ext cx="5486682" cy="32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64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BCD0D6D-7BC3-129F-6835-69F1E08E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3B9A019-4FB1-4D70-CC3A-90A4D061A5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359FA5B9-AE70-DF16-ED8F-8B7167F17D7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IN PANDAS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631CF8B3-24B6-EDD4-5A90-D846F8C742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C8456827-C55C-448D-9FA6-97D77316E3E5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Pandas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4A83E-9580-7C90-1E9E-07DCBFB43E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F8666-114A-2C20-D9C3-119427A5C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6526" y="2494631"/>
            <a:ext cx="4798948" cy="36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9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9DBEA52D-8DFC-0923-94CF-261B3648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813DC1E0-0C24-7C30-0982-29D5681D30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9FB4D521-8760-B039-23B5-ECE0E5F16517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IN PANDAS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64879E56-6D58-F624-BA11-1BC966A9C6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F93F3CDC-D851-C986-215F-BA66134F962D}"/>
              </a:ext>
            </a:extLst>
          </p:cNvPr>
          <p:cNvSpPr txBox="1"/>
          <p:nvPr/>
        </p:nvSpPr>
        <p:spPr>
          <a:xfrm>
            <a:off x="1333500" y="1866900"/>
            <a:ext cx="9143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Join Pandas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9D6523-EC14-15C9-6AD1-69F35EF49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8DFAF-2475-9B50-759C-BD7235008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6526" y="2494631"/>
            <a:ext cx="4798948" cy="36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87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1C082CD3-0216-1337-92BC-1A57E2ED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5DBB4416-31EA-96E2-6217-AFC3849CFF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26F6205-A2B1-949D-6B85-E9150E688493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BÀI TẬP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9D980F5D-98AB-BE5C-D16F-79F2EEBC05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0F3B0B9F-7E04-B0B7-8DAF-12511922C0C1}"/>
              </a:ext>
            </a:extLst>
          </p:cNvPr>
          <p:cNvSpPr txBox="1"/>
          <p:nvPr/>
        </p:nvSpPr>
        <p:spPr>
          <a:xfrm>
            <a:off x="1350590" y="1152525"/>
            <a:ext cx="9720485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bảng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Sinh Viên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với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MaSV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HoTen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Lop,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DiemPython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DiemWeb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DiemDatabase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ít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nhất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sinh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vài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trị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bị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null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Đọc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file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kiểm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tra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Điền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trị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null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bằng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0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DiemTB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trung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bình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3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môn</a:t>
            </a:r>
            <a:endParaRPr lang="en-US" sz="20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XepLoai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Giỏi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&gt;= 8,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Khá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&gt;= 6.5, Trung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bình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&gt;= 5,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Yếu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&lt; 5)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kê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Lop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điểm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trung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bình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DiemTB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mỗi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lớp</a:t>
            </a:r>
            <a:endParaRPr lang="en-US" sz="20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bảng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Thông Tin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Lớp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với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cột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Lop,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GiaoVien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PhongHoc</a:t>
            </a:r>
            <a:endParaRPr lang="en-US" sz="20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Ghép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bảng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Sinh Viên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với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bảng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Thông Tin </a:t>
            </a:r>
            <a:r>
              <a:rPr lang="en-US" sz="20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Lớp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cột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90ACED-4DBB-1497-65D1-9055D08D8F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37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0CCD0FD4-217F-6351-5F88-9699CED6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1DD9F8E8-2C8C-C7E3-BE6E-8CEB5C2256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602AE1E6-2A8D-2C53-4A3B-623F953EAF6F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028D12FE-D641-A6A2-ABA9-945B0390DF87}"/>
              </a:ext>
            </a:extLst>
          </p:cNvPr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3. PYTHON WEB AUTOMATION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B740D648-B340-6ED3-31C0-B4106678812B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BF563E-FE5D-1BDD-0515-F8F47FF13C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80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1418834-5B52-4478-C63A-5F86374A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275E54D6-3262-9D13-A68C-38360B5264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8CB1638A-1C1E-0461-D0D8-F7E0BDB322DE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BEAUTIFULSOUP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CB4D0777-0B53-B107-EA20-BF6BB21806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7F748675-AD0A-92D7-131E-F5DB4C342ACC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Giới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thiệu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Beautifullsoup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2E91F4-F150-43E3-7436-DE6A2BA7AE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E94C24D2-C865-5CA7-1580-F333B5972EE2}"/>
              </a:ext>
            </a:extLst>
          </p:cNvPr>
          <p:cNvSpPr txBox="1"/>
          <p:nvPr/>
        </p:nvSpPr>
        <p:spPr>
          <a:xfrm>
            <a:off x="1333498" y="3059668"/>
            <a:ext cx="945556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Beautifulsoup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thư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viện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trích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HTML/XML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Cài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đặt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: pip install beautifullsoup4</a:t>
            </a:r>
          </a:p>
        </p:txBody>
      </p:sp>
    </p:spTree>
    <p:extLst>
      <p:ext uri="{BB962C8B-B14F-4D97-AF65-F5344CB8AC3E}">
        <p14:creationId xmlns:p14="http://schemas.microsoft.com/office/powerpoint/2010/main" val="2829290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9AF3651-93C8-D413-A8AE-FC7D490B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8968792F-5D1E-34E3-7515-1F81C42045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0F0045BF-FA4B-3A22-78F3-523B2CF3330C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ƯU ĐIỂM BEAUTIFULSOUP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F8232BD-D91C-F390-9905-FC1C8B6953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4132BBD9-8BDD-05C1-663C-DC73543C4FE0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Dễ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cú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pháp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đơn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giản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62E80-151A-5097-9F2B-4D5F1F128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4" name="Google Shape;134;p16">
            <a:extLst>
              <a:ext uri="{FF2B5EF4-FFF2-40B4-BE49-F238E27FC236}">
                <a16:creationId xmlns:a16="http://schemas.microsoft.com/office/drawing/2014/main" id="{E335B425-4868-C435-206D-E25A916F899B}"/>
              </a:ext>
            </a:extLst>
          </p:cNvPr>
          <p:cNvSpPr txBox="1"/>
          <p:nvPr/>
        </p:nvSpPr>
        <p:spPr>
          <a:xfrm>
            <a:off x="1333499" y="2732874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Tiết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kiệm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tài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nguyên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Google Shape;134;p16">
            <a:extLst>
              <a:ext uri="{FF2B5EF4-FFF2-40B4-BE49-F238E27FC236}">
                <a16:creationId xmlns:a16="http://schemas.microsoft.com/office/drawing/2014/main" id="{AE370014-19A3-4CBD-48B1-E11F4A17E3C4}"/>
              </a:ext>
            </a:extLst>
          </p:cNvPr>
          <p:cNvSpPr txBox="1"/>
          <p:nvPr/>
        </p:nvSpPr>
        <p:spPr>
          <a:xfrm>
            <a:off x="1333498" y="3598848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Nhanh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hơn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Selenium(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mở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trình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duyệt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)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41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603FCA-1890-DE95-F0C3-FF4142ED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332161CA-B328-A8FB-7193-6C0CF23AA7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69244334-F5EF-E0DA-BA83-59A0F14E9F4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HẠN CHẾ BEAUTIFULSOUP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DF7EB5AD-0E5B-A28F-FB70-FF02A65345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2AD1F5A6-9692-E165-B7D2-9FD370DD9ACF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thể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tương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(click,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điền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form)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D974B-02AB-FA29-473D-AE1D8BAC7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4" name="Google Shape;134;p16">
            <a:extLst>
              <a:ext uri="{FF2B5EF4-FFF2-40B4-BE49-F238E27FC236}">
                <a16:creationId xmlns:a16="http://schemas.microsoft.com/office/drawing/2014/main" id="{FDA142BE-BFCD-24AE-D34A-04F6E94C48FF}"/>
              </a:ext>
            </a:extLst>
          </p:cNvPr>
          <p:cNvSpPr txBox="1"/>
          <p:nvPr/>
        </p:nvSpPr>
        <p:spPr>
          <a:xfrm>
            <a:off x="1333499" y="2732874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chạy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JavaScript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Google Shape;134;p16">
            <a:extLst>
              <a:ext uri="{FF2B5EF4-FFF2-40B4-BE49-F238E27FC236}">
                <a16:creationId xmlns:a16="http://schemas.microsoft.com/office/drawing/2014/main" id="{5C360E0D-0687-49D6-1C08-33B2569E48E8}"/>
              </a:ext>
            </a:extLst>
          </p:cNvPr>
          <p:cNvSpPr txBox="1"/>
          <p:nvPr/>
        </p:nvSpPr>
        <p:spPr>
          <a:xfrm>
            <a:off x="1333498" y="3598848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Chỉ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lấy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HTML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tĩnh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346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FE24977-99B1-3B16-C7F2-39AE687E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AB6E6715-F223-B1FA-123A-15866B9048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AA19B20-212E-7912-5802-620E1146CF2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KHI NÀO DÙNG BEAUTIFULSOUP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823C54B2-13E4-E32E-D195-52D17E1926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31AB364A-7A97-8964-74A6-4D802FBFD10C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Chỉ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lấy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,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tương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tác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645AF-FF06-191E-111E-B1C21D00E9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4" name="Google Shape;134;p16">
            <a:extLst>
              <a:ext uri="{FF2B5EF4-FFF2-40B4-BE49-F238E27FC236}">
                <a16:creationId xmlns:a16="http://schemas.microsoft.com/office/drawing/2014/main" id="{84098E18-E3F7-FE89-CC09-8A45EEEFC2D6}"/>
              </a:ext>
            </a:extLst>
          </p:cNvPr>
          <p:cNvSpPr txBox="1"/>
          <p:nvPr/>
        </p:nvSpPr>
        <p:spPr>
          <a:xfrm>
            <a:off x="1333499" y="2732874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scrape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nhanh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hiệu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quả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Google Shape;134;p16">
            <a:extLst>
              <a:ext uri="{FF2B5EF4-FFF2-40B4-BE49-F238E27FC236}">
                <a16:creationId xmlns:a16="http://schemas.microsoft.com/office/drawing/2014/main" id="{0E953625-408A-8BDB-BC3A-57CD982535BA}"/>
              </a:ext>
            </a:extLst>
          </p:cNvPr>
          <p:cNvSpPr txBox="1"/>
          <p:nvPr/>
        </p:nvSpPr>
        <p:spPr>
          <a:xfrm>
            <a:off x="1333498" y="3598848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Trang web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không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JavaScript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nhiều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08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5094CD42-E8B9-4C99-4E09-AB787D70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8177A58C-D2AB-F942-0E70-5360FEA190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452C27B4-9F2C-B25B-3EAD-03714F39550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 DỤNG BEAUTIFULSOUP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4C4B9693-4B79-C26A-DD25-EF99C77D26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0219074-AFDB-4CDA-097E-7A573D9FA48B}"/>
              </a:ext>
            </a:extLst>
          </p:cNvPr>
          <p:cNvSpPr txBox="1"/>
          <p:nvPr/>
        </p:nvSpPr>
        <p:spPr>
          <a:xfrm>
            <a:off x="1333498" y="1347126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Mục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tiêu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: Thu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thập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thông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tin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từ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http://books.toscrape.com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D6DD87-FECE-B9FA-6F9E-1F9599267A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sp>
        <p:nvSpPr>
          <p:cNvPr id="5" name="Google Shape;134;p16">
            <a:extLst>
              <a:ext uri="{FF2B5EF4-FFF2-40B4-BE49-F238E27FC236}">
                <a16:creationId xmlns:a16="http://schemas.microsoft.com/office/drawing/2014/main" id="{C930F4C2-35A9-7EDB-FD18-8166FBA7696F}"/>
              </a:ext>
            </a:extLst>
          </p:cNvPr>
          <p:cNvSpPr txBox="1"/>
          <p:nvPr/>
        </p:nvSpPr>
        <p:spPr>
          <a:xfrm>
            <a:off x="1333498" y="2109153"/>
            <a:ext cx="9455565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Yêu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Lấy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trang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đầu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tiên</a:t>
            </a:r>
            <a:endParaRPr lang="en-US" sz="18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Lấy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tin: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Tên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Tình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trạng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(In stock/Out of stock)</a:t>
            </a: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Tổng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trung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bình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từng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đắt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nhất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rẻ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nhất</a:t>
            </a:r>
            <a:endParaRPr lang="en-US" sz="18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quả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ra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Excel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với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2 sheets: </a:t>
            </a: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Sheet1: Danh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endParaRPr lang="en-US" sz="18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	Sheet2: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kê</a:t>
            </a:r>
            <a:endParaRPr lang="en-US" sz="18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390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06B1BBD-D20A-AB43-2D2D-F8A360CF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E431A53-D3FA-7C31-0881-5F7D09F576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52AE2328-08F6-90CD-B32B-FA8B6CC9EB9C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 DỤNG BEAUTIFULSOUP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8663A00-CA0D-F7E1-F22D-47817F1D9D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3CAF8101-0DC3-7431-1763-90D20E1CDFFB}"/>
              </a:ext>
            </a:extLst>
          </p:cNvPr>
          <p:cNvSpPr txBox="1"/>
          <p:nvPr/>
        </p:nvSpPr>
        <p:spPr>
          <a:xfrm>
            <a:off x="1333498" y="1347126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Code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04DD6B-80FC-06B3-AA6C-47276A954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85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0974743-DC23-3763-252C-202156F6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BEAF2FF2-DB4A-AB25-E1B8-434D0F76FE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8617F86E-CF67-633E-BCB3-66027EB9E81D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SELENIUM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2A864C21-D137-5D57-0F51-111CAB1632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04ED6EEB-5E21-4549-F5B8-D1F6A945AA80}"/>
              </a:ext>
            </a:extLst>
          </p:cNvPr>
          <p:cNvSpPr txBox="1"/>
          <p:nvPr/>
        </p:nvSpPr>
        <p:spPr>
          <a:xfrm>
            <a:off x="1295995" y="12192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Giới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thiệu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selenium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55D78-0CB7-3D83-FDCE-5C1577D4E2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26BFFD86-5B35-0B2D-B19E-FDF5E1FC2D66}"/>
              </a:ext>
            </a:extLst>
          </p:cNvPr>
          <p:cNvSpPr txBox="1"/>
          <p:nvPr/>
        </p:nvSpPr>
        <p:spPr>
          <a:xfrm>
            <a:off x="1295994" y="2051566"/>
            <a:ext cx="945556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Selenium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hóa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trình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duyệt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web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Ứng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: test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thu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thập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hóa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tác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vụ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lặp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đi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lặp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lại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8" name="Picture 4" descr="Starting Selenium with Python. Selenium is a free (open-source)… | by  Akhtar,B.s | Medium">
            <a:extLst>
              <a:ext uri="{FF2B5EF4-FFF2-40B4-BE49-F238E27FC236}">
                <a16:creationId xmlns:a16="http://schemas.microsoft.com/office/drawing/2014/main" id="{36B9D80C-85FC-36E7-9908-9B76CAB8E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046657"/>
            <a:ext cx="3766203" cy="194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782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F3AFA4E-8EC9-DDA8-898B-4C18E368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D2442CE-1B26-1A62-BFEA-C62CCEB495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D2FF49A-3BC4-A0E4-A698-0158CB832192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SELENIUM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061AE1E1-D0F4-3BAF-BD43-B0805A4142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B14268FF-C52A-619E-FB7F-539A12EF2819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Cài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đặt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31EC35-6440-3249-4C8F-B975C8C523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BBE10BFA-B13D-B4E2-3384-AC7B02EE87F2}"/>
              </a:ext>
            </a:extLst>
          </p:cNvPr>
          <p:cNvSpPr txBox="1"/>
          <p:nvPr/>
        </p:nvSpPr>
        <p:spPr>
          <a:xfrm>
            <a:off x="1333498" y="2707236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pip install selenium</a:t>
            </a:r>
          </a:p>
        </p:txBody>
      </p:sp>
    </p:spTree>
    <p:extLst>
      <p:ext uri="{BB962C8B-B14F-4D97-AF65-F5344CB8AC3E}">
        <p14:creationId xmlns:p14="http://schemas.microsoft.com/office/powerpoint/2010/main" val="1203358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A2676517-61D1-5140-DB55-583BF083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FE415194-1D37-88B4-C111-E1ADADA5C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EF25A41-EF2B-953A-09B3-281AA21BBE8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SELENIUM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DFD9E24-F6F2-2BFD-E34D-3123DF54BF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4BE7BB2D-FBB8-406D-0B62-CB2812199BD8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Khi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nào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dùng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Selenium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AF902-42C9-D064-AEED-801D27E307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sp>
        <p:nvSpPr>
          <p:cNvPr id="3" name="Google Shape;134;p16">
            <a:extLst>
              <a:ext uri="{FF2B5EF4-FFF2-40B4-BE49-F238E27FC236}">
                <a16:creationId xmlns:a16="http://schemas.microsoft.com/office/drawing/2014/main" id="{B25B5928-706E-7B10-4C80-6065C6142A0E}"/>
              </a:ext>
            </a:extLst>
          </p:cNvPr>
          <p:cNvSpPr txBox="1"/>
          <p:nvPr/>
        </p:nvSpPr>
        <p:spPr>
          <a:xfrm>
            <a:off x="1333498" y="2707236"/>
            <a:ext cx="945556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Trang web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JavaScript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để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load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Cần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tương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tác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(login, click, scroll)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load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9666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6F2F19C-B453-C03C-A12B-19C53603A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11EA57ED-A70F-88D9-6F66-B642A53DA3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9B040A36-943B-E279-CF9A-6E3D985137FB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 THÀNH PHẦN CƠ BẢN SELENIUM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36928A0A-FEEC-538B-6579-869AABBB11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46B317D-7AE4-8950-A0DE-346FF1D9D4C2}"/>
              </a:ext>
            </a:extLst>
          </p:cNvPr>
          <p:cNvSpPr txBox="1"/>
          <p:nvPr/>
        </p:nvSpPr>
        <p:spPr>
          <a:xfrm>
            <a:off x="1333499" y="1866900"/>
            <a:ext cx="9455565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WebDriver –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Người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lái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xe</a:t>
            </a:r>
            <a:endParaRPr lang="en-US" sz="24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Locators (By) –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Bản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đồ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định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vị</a:t>
            </a:r>
            <a:endParaRPr lang="en-US" sz="24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WebElement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–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Đối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tượng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tương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tác</a:t>
            </a:r>
            <a:endParaRPr lang="en-US" sz="24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Waits –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Cơ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chế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đợi</a:t>
            </a:r>
            <a:endParaRPr lang="en-US" sz="24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Expected Conditions(EC) –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Điều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kiện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mong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đợi</a:t>
            </a:r>
            <a:endParaRPr lang="en-US" sz="24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Actions –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Hành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phức</a:t>
            </a:r>
            <a:r>
              <a:rPr lang="en-US" sz="24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tạp</a:t>
            </a:r>
            <a:endParaRPr lang="en-US" sz="24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C00214-46B5-F0ED-7ED3-363F80AF33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0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C3FAED3D-0AA8-E964-7D84-6E5EE75A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DB5DFA64-6B0A-E810-2CDB-18B3EFA859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03F74F3-38DA-D966-1BF1-FA4AE454A88F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WEBDRIVER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B995850F-13B5-68E4-35CE-14676ACED9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CA78F7DC-DF63-18B9-4439-111490D7C16A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Điều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khiển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trình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duyệt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E11C3B-A6A3-D4D6-7FDD-7AC94C542A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5218E-44C7-8801-05C7-31A171C98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100" y="2904349"/>
            <a:ext cx="7163800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955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A8FA414-451D-B3D1-34A7-F3DF106F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01010347-A92C-7D15-E9B3-0FCEA33C18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8ACC3C8-17A6-64C4-69DE-34D9DADF16B4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DOM(DOCUMENT OBJECT MODEL)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F182939-46D9-2A4B-056D-B1EE1EE9B8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8D224988-AD79-2BC0-89EE-7BA387B88149}"/>
              </a:ext>
            </a:extLst>
          </p:cNvPr>
          <p:cNvSpPr txBox="1"/>
          <p:nvPr/>
        </p:nvSpPr>
        <p:spPr>
          <a:xfrm>
            <a:off x="1333499" y="1866900"/>
            <a:ext cx="945556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DOM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cấu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trúc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cây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của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HTML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Mỗi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HTML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node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trong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cây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DOM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Selenium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tương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với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qua DOM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6247F8-B5DD-DA80-5413-FDAF8171A8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206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4DE5E4A8-BC88-0757-D783-AC14E155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9B2F3550-5CD7-7E5B-1AA7-D34449BB7A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92514B2E-A06F-C251-6219-ABAD521093F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DOM(DOCUMENT OBJECT MODEL)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81405E00-EB7E-F0C4-2FBA-C62EA7D56E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BA6CA828-ED7F-D9AD-CA10-02D78E55BE17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DOM tree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967D9B-F94F-7DD2-9F0A-36D2DE477C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6807FD9-C0F4-7359-B546-B6C13909A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297" y="2605564"/>
            <a:ext cx="5389405" cy="342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072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719C1F-A4B7-05B8-79C2-180BFB87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889DB085-3343-8665-60FF-859EAF4D38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DC67EFAD-750A-29F5-C4AC-19ED18EB1FB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DOM(DOCUMENT OBJECT MODEL)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4F11939F-0E7F-9AE1-C706-52287A6BEA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DE054A1-870B-08DF-DFC3-4F01EEB1A3A7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cấu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trúc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HTML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35501E-3CC1-8AF8-C009-6C57C4185E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72C95B-7A43-BD0A-DFD9-D25AE82D7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6236" y="2768266"/>
            <a:ext cx="5799527" cy="33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79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22D2D49-E5DC-9D89-D044-E115C765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F00AC1E4-53ED-A5D3-0265-522697E21B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B09FE853-5A2A-AACF-5587-56A89EAB0DF0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LOCATORS (BY) – BẢN ĐỒ ĐỊNH VỊ  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645BE464-3BEB-2CAF-AEE6-D1FC3A0B92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F7AD4128-CB34-AE74-F808-EAC91657CB5D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By ID –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định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qua ID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622805-DB06-2957-6108-4F69DFFCD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0E63F-9FEA-84B1-3871-8B7E062DB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92" y="2875209"/>
            <a:ext cx="10679015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790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1EBF22FC-924B-C700-EA50-BE4C0E65F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E4EDB5E2-5EA0-B9F8-FCB2-BCA4DE425B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CD331ACD-68CE-1217-152D-2BA6CE0F04D1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LOCATORS (BY) – BẢN ĐỒ ĐỊNH VỊ  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829EE211-E24B-5574-14F7-814C9D0CFE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76939D2-4AB5-002A-94A2-B7C188E3D7B0}"/>
              </a:ext>
            </a:extLst>
          </p:cNvPr>
          <p:cNvSpPr txBox="1"/>
          <p:nvPr/>
        </p:nvSpPr>
        <p:spPr>
          <a:xfrm>
            <a:off x="1333499" y="1866900"/>
            <a:ext cx="94555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By Name -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định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qua Name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C78F5B-F119-BA97-B8B9-41AFCBA5D9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F4672-E57B-670C-1B58-A9CF3C597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5210"/>
            <a:ext cx="11060068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668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A4E5E0F5-6557-3589-C524-D776800E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9F3C4CE8-4F4A-7DF3-7DC7-803ECE7A94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669822F-54AD-64B8-294C-F1EF56E1240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LOCATORS (BY) – BẢN ĐỒ ĐỊNH VỊ  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B2840535-4E31-CBC8-6159-88F7A0822E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8523A5CC-BDD8-02D6-BD52-CB8017D42CDC}"/>
              </a:ext>
            </a:extLst>
          </p:cNvPr>
          <p:cNvSpPr txBox="1"/>
          <p:nvPr/>
        </p:nvSpPr>
        <p:spPr>
          <a:xfrm>
            <a:off x="1333499" y="1866900"/>
            <a:ext cx="101630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By Class Name -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định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qua Class Name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BD905-48AC-FCBA-734B-D0FC9E786B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85757-6690-3DF0-32E0-2E8BDF150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95" y="3604647"/>
            <a:ext cx="991690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237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39B9922-A9B3-23F5-8A3A-ACEB3673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D8A15B51-8FB4-01C3-4F93-9E17C206C9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4A5EB1C-9AF1-5982-811C-3896A7A0EC6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LOCATORS (BY) – BẢN ĐỒ ĐỊNH VỊ  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952C55BB-680C-4B12-42F6-D40C9C5E42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D585DB40-62D5-DC77-B510-1FCFA64A0B42}"/>
              </a:ext>
            </a:extLst>
          </p:cNvPr>
          <p:cNvSpPr txBox="1"/>
          <p:nvPr/>
        </p:nvSpPr>
        <p:spPr>
          <a:xfrm>
            <a:off x="1333499" y="1866900"/>
            <a:ext cx="101630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By Tag Name -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định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qua Tag Name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039042-8992-EA42-306E-0612F782E1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F0CEE-9097-F707-4192-A6E01D61B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099" y="3632571"/>
            <a:ext cx="8973802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313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B104F747-CADA-8049-7DF2-1200DDB7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28AE60B0-82CE-F2EE-37DB-E0158A904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58558F51-A5BA-33F1-705E-1A3ADEC725DF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LOCATORS (BY) – BẢN ĐỒ ĐỊNH VỊ  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2C228EDC-BB75-B5F7-36E1-B3A2CAA8FD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B13B0BA7-53A0-7240-BB74-2C97EF0F21A0}"/>
              </a:ext>
            </a:extLst>
          </p:cNvPr>
          <p:cNvSpPr txBox="1"/>
          <p:nvPr/>
        </p:nvSpPr>
        <p:spPr>
          <a:xfrm>
            <a:off x="1333499" y="1866900"/>
            <a:ext cx="101630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By CSS Selector -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định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qua CSS Selector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1FCBC-863E-D06B-869F-0D204E274C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CF9CB-12E0-011C-EEE3-8F672466B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424" y="2970180"/>
            <a:ext cx="5285151" cy="31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869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D2334E26-FC07-8418-3733-6DCCA8FA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D2261FB5-9829-1D2F-D1DB-705302C84F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E8836995-F8BB-5EA9-E172-D14C85412B97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THỰC HÀNH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E462DBF1-D065-9A22-6294-3BEBC90A6C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F69B978A-A88D-B4D4-1397-F425FEABFBC2}"/>
              </a:ext>
            </a:extLst>
          </p:cNvPr>
          <p:cNvSpPr txBox="1"/>
          <p:nvPr/>
        </p:nvSpPr>
        <p:spPr>
          <a:xfrm>
            <a:off x="1333499" y="1453480"/>
            <a:ext cx="1016304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Bài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1: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Mở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trang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web</a:t>
            </a: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Mở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trang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  <a:hlinkClick r:id="rId5"/>
              </a:rPr>
              <a:t>https://sinhvien.dau.edu.vn/sinh-vien-dang-nhap.html</a:t>
            </a:r>
            <a:endParaRPr lang="en-US" sz="2400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Tìm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ô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Mã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sinh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viên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bằng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3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cách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By.NAME, CSS Selector,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Xpath</a:t>
            </a:r>
            <a:endParaRPr lang="en-US" sz="2400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In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ra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tag name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thuộc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tính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31DBC0-0906-9071-6192-359810CE82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878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3F50BFD-FD72-4FCE-659B-AC45F734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D785746C-3D4C-B9E6-19BC-101024F5C6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9B0C5499-20EF-4C1B-DC2C-B1D60A40CC20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WEBELEMENT – ĐỐI TƯỢNG TƯƠNG TÁC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824088C6-0C32-41C7-CC61-B72972C074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3929D3C9-71B8-6A27-C048-F7C24F512732}"/>
              </a:ext>
            </a:extLst>
          </p:cNvPr>
          <p:cNvSpPr txBox="1"/>
          <p:nvPr/>
        </p:nvSpPr>
        <p:spPr>
          <a:xfrm>
            <a:off x="1333499" y="1453480"/>
            <a:ext cx="1016304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Đại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diện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HTML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trên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website</a:t>
            </a: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element.click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() 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– click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vào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endParaRPr lang="en-US" sz="2400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element.send_keys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(“text”) 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–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nhập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‘text’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vào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endParaRPr lang="en-US" sz="2400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element.clear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() 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–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xóa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nội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dung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của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endParaRPr lang="en-US" sz="2400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element.text</a:t>
            </a: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–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lấy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nội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dung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của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phần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tử</a:t>
            </a:r>
            <a:endParaRPr lang="en-US" sz="2400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48D26F-5201-67C4-87B8-439596C72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021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6E77A1E-0105-89B6-FBA9-58B14AAC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CD76D27D-081A-C7A2-4760-9C2DC29EA5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564C8631-4D86-512F-8B4F-DF501493D711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WEBELEMENT – ĐỐI TƯỢNG TƯƠNG TÁC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6FB12AB2-5401-18FB-417F-36CDBAE9DE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F1F7B7C-098F-E494-A186-97142E4BD4EE}"/>
              </a:ext>
            </a:extLst>
          </p:cNvPr>
          <p:cNvSpPr txBox="1"/>
          <p:nvPr/>
        </p:nvSpPr>
        <p:spPr>
          <a:xfrm>
            <a:off x="1333499" y="1453480"/>
            <a:ext cx="1016304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Thực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hiện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nhập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mssv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, password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vào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  <a:hlinkClick r:id="rId5"/>
              </a:rPr>
              <a:t>https://sinhvien.dau.edu.vn/sinh-vien-dang-nhap.html</a:t>
            </a:r>
            <a:endParaRPr lang="en-US" sz="2400" b="1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6E9C02-6EAD-75A2-0A7A-2C89B0036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65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CF61C61C-56D6-A859-6EB8-E9DED242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2EA5EEDB-5B9D-A3C2-2F9F-6151452B9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02B5B0A-17C7-D4F2-B1F9-7E3AFEC372BD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WAIT AND EXPECTED CONDITIONS(EC)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5B4ED4DF-A181-D03E-DB2E-D9F0196A35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4EC4D55-8478-B39C-4032-8ECF50435396}"/>
              </a:ext>
            </a:extLst>
          </p:cNvPr>
          <p:cNvSpPr txBox="1"/>
          <p:nvPr/>
        </p:nvSpPr>
        <p:spPr>
          <a:xfrm>
            <a:off x="1333499" y="1453480"/>
            <a:ext cx="10163042" cy="4375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định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điều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kiện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cần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đạt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trước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tiếp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tục</a:t>
            </a:r>
            <a:endParaRPr lang="en-US" sz="2400" b="1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EC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phổ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biến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:</a:t>
            </a:r>
          </a:p>
          <a:p>
            <a:pPr marL="342900" indent="-342900" rtl="0" fontAlgn="base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EC.presence_of_element_located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tử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đã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hiện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DOM</a:t>
            </a:r>
          </a:p>
          <a:p>
            <a:pPr marL="342900" indent="-342900" rtl="0" fontAlgn="base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EC.visibility_of_element_located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tử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đã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hiển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thị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thể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nhìn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thấy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EC.element_to_be_clickable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tử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đã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thể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nhấp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vào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55B8D5-40AC-5B61-6877-9CC60C8AF9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036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59087F98-3B7F-985C-5A7F-EE558183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A80114F1-060D-82BC-2933-7A8D72920F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5D42E93-13F6-FBF0-72E7-F36B0B4638C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WAIT AND EXPECTED CONDITIONS(EC)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7543629B-29BF-4626-8413-B8175D38DD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0C0F74CB-BA72-6F49-C29F-223A41677DA1}"/>
              </a:ext>
            </a:extLst>
          </p:cNvPr>
          <p:cNvSpPr txBox="1"/>
          <p:nvPr/>
        </p:nvSpPr>
        <p:spPr>
          <a:xfrm>
            <a:off x="1333499" y="1453480"/>
            <a:ext cx="101630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Ví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</a:t>
            </a:r>
            <a:endParaRPr lang="en-US" sz="2400" b="1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A8855-FB64-9F89-4202-A93BCD7CC8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B72ACC-9775-01B8-C3FF-E344AD51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617" y="2520126"/>
            <a:ext cx="8500766" cy="321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221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C36B055E-7F47-9A52-AFFD-C115638A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7B1D7FEC-51A5-7F28-D36D-AE1E2BE27E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3AAE2460-34B5-D298-B2A1-477FFC3F7D5C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ACTIONS – HÀNH ĐỘNG PHỨC TẠP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634C39DB-8CD2-A8E8-A716-AC4BCB7977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60D3A31-0FAC-D6ED-70A3-E60EA67552D5}"/>
              </a:ext>
            </a:extLst>
          </p:cNvPr>
          <p:cNvSpPr txBox="1"/>
          <p:nvPr/>
        </p:nvSpPr>
        <p:spPr>
          <a:xfrm>
            <a:off x="1333499" y="1453480"/>
            <a:ext cx="1016304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Thực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hiện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tác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nâng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cao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(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kéo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thả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,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chuột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phải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,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nhấn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giữ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,…)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6554B8-F4AC-7DCE-7193-B756443B5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60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DFD506-6445-3400-FF22-FAC69B6F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510319"/>
            <a:ext cx="79248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661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4112EDDF-5EF1-FBD3-AB85-70F646A42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DB4EA1E2-5DCB-671C-395A-41EDEEEE27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96B47E81-CBB9-0029-3E1E-F89633E2FE7E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FORM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AC25A63D-08CF-931E-B5BE-A35E9FE4A0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D5FBAAB3-70B7-B2D4-36E6-3C19AD1D7E9F}"/>
              </a:ext>
            </a:extLst>
          </p:cNvPr>
          <p:cNvSpPr txBox="1"/>
          <p:nvPr/>
        </p:nvSpPr>
        <p:spPr>
          <a:xfrm>
            <a:off x="1333499" y="1453480"/>
            <a:ext cx="1016304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Thực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hiện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kiểm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tra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phạt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nguội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xe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máy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tại</a:t>
            </a:r>
            <a:r>
              <a:rPr lang="en-US" sz="24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https://phatnguoi.com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DB73FD-EADF-FB66-4FE4-447476FF69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61</a:t>
            </a:fld>
            <a:endParaRPr lang="en-US"/>
          </a:p>
        </p:txBody>
      </p:sp>
      <p:pic>
        <p:nvPicPr>
          <p:cNvPr id="4" name="Picture 3">
            <a:hlinkClick r:id="rId5"/>
            <a:extLst>
              <a:ext uri="{FF2B5EF4-FFF2-40B4-BE49-F238E27FC236}">
                <a16:creationId xmlns:a16="http://schemas.microsoft.com/office/drawing/2014/main" id="{FA943F38-9E8C-0624-C4E0-DD5BE89E53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9487" y="3258790"/>
            <a:ext cx="9431066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272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EBB2291-0D1D-2C79-2320-1C864554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5FEC2752-3894-5C1D-B070-F62B0F181D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EEC27F5F-EB4F-2816-A57B-E9D1B13808BD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DROPDOWN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CCFB4324-C67E-2C68-BFB4-7BEBBF9FC6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AFCBD615-81F0-2FDC-0057-3BED874365B1}"/>
              </a:ext>
            </a:extLst>
          </p:cNvPr>
          <p:cNvSpPr txBox="1"/>
          <p:nvPr/>
        </p:nvSpPr>
        <p:spPr>
          <a:xfrm>
            <a:off x="1333499" y="1453480"/>
            <a:ext cx="10163042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200000"/>
              </a:lnSpc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Mở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trang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i="0" u="sng" strike="noStrike" dirty="0">
                <a:solidFill>
                  <a:srgbClr val="1155C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https://demo.guru99.com/test/newtours/register.php</a:t>
            </a:r>
            <a:endParaRPr lang="en-US" sz="2000" b="1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rtl="0">
              <a:lnSpc>
                <a:spcPct val="200000"/>
              </a:lnSpc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Điền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tin: First Name, Last Name, Phone, Email</a:t>
            </a:r>
            <a:endParaRPr lang="en-US" sz="2000" b="1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rtl="0">
              <a:lnSpc>
                <a:spcPct val="200000"/>
              </a:lnSpc>
            </a:pP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Chọn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Country </a:t>
            </a: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dropdown</a:t>
            </a:r>
            <a:endParaRPr lang="en-US" sz="2000" b="1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rtl="0">
              <a:lnSpc>
                <a:spcPct val="200000"/>
              </a:lnSpc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Click </a:t>
            </a:r>
            <a:r>
              <a:rPr lang="en-US" sz="2000" b="1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nút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Submit</a:t>
            </a:r>
            <a:endParaRPr lang="en-US" sz="2000" b="1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B381E6-B4C5-EE03-F9B8-16A4ED216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7410C3-9DA6-3772-44C9-246247439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278" y="2684586"/>
            <a:ext cx="3481444" cy="372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742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6E520FAB-F678-DD35-4DBA-2CBDDD41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023BB78B-D860-5267-CC4D-928B6F6CC7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0167DAC1-E96D-ADCE-80A9-F7BA0B61F9C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BÀI TẬP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D13EBC2B-02FF-DE6A-5A11-6ACA8B804E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5D83726E-CE83-2468-BED7-43ADA8683A09}"/>
              </a:ext>
            </a:extLst>
          </p:cNvPr>
          <p:cNvSpPr txBox="1"/>
          <p:nvPr/>
        </p:nvSpPr>
        <p:spPr>
          <a:xfrm>
            <a:off x="1333499" y="1453480"/>
            <a:ext cx="1016304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200000"/>
              </a:lnSpc>
            </a:pPr>
            <a:r>
              <a:rPr lang="vi-VN" sz="2000" b="1" i="0" u="none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Vào trang </a:t>
            </a:r>
            <a:r>
              <a:rPr lang="vi-VN" sz="2000" b="1" i="0" u="sng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https://alonhadat.com.vn</a:t>
            </a:r>
            <a:r>
              <a:rPr lang="vi-VN" sz="2000" b="1" i="0" u="none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chọn </a:t>
            </a:r>
            <a:r>
              <a:rPr lang="en-US" sz="2000" b="1" i="0" u="none" strike="noStrike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TP. </a:t>
            </a:r>
            <a:r>
              <a:rPr lang="vi-VN" sz="2000" b="1" i="0" u="none" strike="noStrike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Đà Nẵng</a:t>
            </a:r>
            <a:r>
              <a:rPr lang="en-US" sz="2000" b="1" i="0" u="none" strike="noStrike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Click </a:t>
            </a:r>
            <a:r>
              <a:rPr lang="en-US" sz="2000" b="1" i="0" u="none" strike="noStrike" dirty="0" err="1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tìm</a:t>
            </a:r>
            <a:r>
              <a:rPr lang="en-US" sz="2000" b="1" i="0" u="none" strike="noStrike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i="0" u="none" strike="noStrike" dirty="0" err="1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kiếm</a:t>
            </a:r>
            <a:r>
              <a:rPr lang="vi-VN" sz="2000" b="1" i="0" u="none" strike="noStrike" dirty="0">
                <a:solidFill>
                  <a:srgbClr val="C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vi-VN" sz="2000" b="1" i="0" u="none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lấy các thông tin tiêu đề, mô tả, diện tích, giá, địa chỉ trong 5 page</a:t>
            </a:r>
            <a:r>
              <a:rPr lang="en-US" sz="2000" b="1" i="0" u="none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i="0" u="none" strike="noStrike" dirty="0" err="1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lưu</a:t>
            </a:r>
            <a:r>
              <a:rPr lang="en-US" sz="2000" b="1" i="0" u="none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i="0" u="none" strike="noStrike" dirty="0" err="1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vào</a:t>
            </a:r>
            <a:r>
              <a:rPr lang="en-US" sz="2000" b="1" i="0" u="none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file excel/csv</a:t>
            </a:r>
            <a:endParaRPr lang="vi-VN" sz="2000" b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F9423-2223-E643-31D1-CAA22E28BE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158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EE629212-496E-2E8C-F940-AA3E0C63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>
            <a:extLst>
              <a:ext uri="{FF2B5EF4-FFF2-40B4-BE49-F238E27FC236}">
                <a16:creationId xmlns:a16="http://schemas.microsoft.com/office/drawing/2014/main" id="{671BFBEB-3118-33DD-B95D-9EB4F1F563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53ED87FF-9492-D720-C33A-7BBAA2E60EDA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BÀI TẬP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3" name="Google Shape;133;p16" descr="image.png">
            <a:extLst>
              <a:ext uri="{FF2B5EF4-FFF2-40B4-BE49-F238E27FC236}">
                <a16:creationId xmlns:a16="http://schemas.microsoft.com/office/drawing/2014/main" id="{7BB18E81-7847-8D43-06E1-84D8620814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18A6DF23-32FD-34DD-F972-E93376E4724A}"/>
              </a:ext>
            </a:extLst>
          </p:cNvPr>
          <p:cNvSpPr txBox="1"/>
          <p:nvPr/>
        </p:nvSpPr>
        <p:spPr>
          <a:xfrm>
            <a:off x="1333499" y="1453480"/>
            <a:ext cx="10163042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200000"/>
              </a:lnSpc>
            </a:pPr>
            <a:r>
              <a:rPr lang="vi-VN" sz="2000" b="1" i="0" u="none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Vào trang </a:t>
            </a:r>
            <a:r>
              <a:rPr lang="vi-VN" sz="2000" b="1" i="0" u="sng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https://www.csgt.vn/tra-cuu-phuong-tien-vi-pham.html</a:t>
            </a:r>
            <a:r>
              <a:rPr lang="en-US" sz="2000" b="1" i="0" u="sng" strike="noStrike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457200" indent="-457200" rtl="0">
              <a:lnSpc>
                <a:spcPct val="200000"/>
              </a:lnSpc>
              <a:buAutoNum type="arabicPeriod"/>
            </a:pP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Nhập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biển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kiểm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soát</a:t>
            </a:r>
            <a:endParaRPr lang="en-US" sz="2000" b="1" dirty="0">
              <a:solidFill>
                <a:srgbClr val="0C0D1A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rtl="0">
              <a:lnSpc>
                <a:spcPct val="200000"/>
              </a:lnSpc>
              <a:buAutoNum type="arabicPeriod"/>
            </a:pP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Chọn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phương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tiện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xe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máy</a:t>
            </a:r>
            <a:endParaRPr lang="en-US" sz="2000" b="1" dirty="0">
              <a:solidFill>
                <a:srgbClr val="0C0D1A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rtl="0">
              <a:lnSpc>
                <a:spcPct val="200000"/>
              </a:lnSpc>
              <a:buAutoNum type="arabicPeriod"/>
            </a:pP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Giải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mã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bảo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mật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bằng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457200" indent="-457200" rtl="0">
              <a:lnSpc>
                <a:spcPct val="200000"/>
              </a:lnSpc>
              <a:buAutoNum type="arabicPeriod"/>
            </a:pP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Nhập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mã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bảo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mật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vào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ô input</a:t>
            </a:r>
          </a:p>
          <a:p>
            <a:pPr marL="457200" indent="-457200" rtl="0">
              <a:lnSpc>
                <a:spcPct val="200000"/>
              </a:lnSpc>
              <a:buAutoNum type="arabicPeriod"/>
            </a:pP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Click Tra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cứu</a:t>
            </a:r>
            <a:endParaRPr lang="en-US" sz="2000" b="1" dirty="0">
              <a:solidFill>
                <a:srgbClr val="0C0D1A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rtl="0">
              <a:lnSpc>
                <a:spcPct val="200000"/>
              </a:lnSpc>
              <a:buAutoNum type="arabicPeriod"/>
            </a:pPr>
            <a:r>
              <a:rPr lang="en-US" sz="2000" b="1" dirty="0" err="1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Kiểm</a:t>
            </a:r>
            <a:r>
              <a:rPr lang="en-US" sz="2000" b="1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tra</a:t>
            </a:r>
            <a:r>
              <a:rPr lang="en-US" sz="2000" b="1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2000" b="1" dirty="0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qu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ả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phạt</a:t>
            </a:r>
            <a:r>
              <a:rPr lang="en-US" sz="2000" b="1" dirty="0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C0D1A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nguội</a:t>
            </a:r>
            <a:endParaRPr lang="vi-VN" sz="2000" b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2890F2-2CA9-5A7E-EBE2-29416D2D6D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409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FABDCA63-BBA4-907C-A119-242F1A7F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AB9AF7FD-C5C4-4EBF-2220-49182ED861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51890756-FFFD-9C74-00B4-C9466A664A3B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FBA2985F-E0DD-9E12-82DE-51BB47A5ABA7}"/>
              </a:ext>
            </a:extLst>
          </p:cNvPr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4. PYTHON API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E3111BAF-F884-E7C9-339C-C935362A87BF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52CFD7-26A5-11FF-E49F-903F4D7B84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099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210BB6D9-9F71-CB5F-C323-08C2205B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40363F9A-7BB4-BEE3-7A01-685235A51D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D9D833FC-3517-486F-CCD8-4678C8DCA2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D646C43E-7C6E-0B8A-2CF6-565EC87355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65A39DB3-4A4D-86B7-2EE5-60AEDC2AE631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GIỚI THIỆU API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65D302C8-3C2A-412A-D76F-63164C9E38D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FAB10147-60CD-C433-342C-7D0287B98129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API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gì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03A524FA-8205-2E95-2BA2-3AB0D15A0B5A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Application Programming Interface –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giao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diện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lập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trình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ứng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dụng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7FC9FE17-6B61-31E2-690A-BC315AE396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3293664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0;p18">
            <a:extLst>
              <a:ext uri="{FF2B5EF4-FFF2-40B4-BE49-F238E27FC236}">
                <a16:creationId xmlns:a16="http://schemas.microsoft.com/office/drawing/2014/main" id="{DE0C83CD-D676-09EF-4720-613AF3B8D1EB}"/>
              </a:ext>
            </a:extLst>
          </p:cNvPr>
          <p:cNvSpPr txBox="1"/>
          <p:nvPr/>
        </p:nvSpPr>
        <p:spPr>
          <a:xfrm>
            <a:off x="1522690" y="3603754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Cho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phép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các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ứng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dụng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giao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tiếp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với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nhau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oogle Shape;163;p18" descr="image.png">
            <a:extLst>
              <a:ext uri="{FF2B5EF4-FFF2-40B4-BE49-F238E27FC236}">
                <a16:creationId xmlns:a16="http://schemas.microsoft.com/office/drawing/2014/main" id="{788132A2-07BE-FEF1-F99F-BA01DC500E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4386865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0;p18">
            <a:extLst>
              <a:ext uri="{FF2B5EF4-FFF2-40B4-BE49-F238E27FC236}">
                <a16:creationId xmlns:a16="http://schemas.microsoft.com/office/drawing/2014/main" id="{75547D2D-E321-61D5-535F-C96720866320}"/>
              </a:ext>
            </a:extLst>
          </p:cNvPr>
          <p:cNvSpPr txBox="1"/>
          <p:nvPr/>
        </p:nvSpPr>
        <p:spPr>
          <a:xfrm>
            <a:off x="1522690" y="46969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REST API: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sử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dụng</a:t>
            </a:r>
            <a:r>
              <a:rPr lang="en-US" sz="2000" b="1" i="0" u="none" strike="noStrike" cap="none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HTTP methods(GET, POST, PUT, DELETE)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Google Shape;163;p18" descr="image.png">
            <a:extLst>
              <a:ext uri="{FF2B5EF4-FFF2-40B4-BE49-F238E27FC236}">
                <a16:creationId xmlns:a16="http://schemas.microsoft.com/office/drawing/2014/main" id="{4425D946-57BD-E4AF-173A-DA42F229D2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5480065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0;p18">
            <a:extLst>
              <a:ext uri="{FF2B5EF4-FFF2-40B4-BE49-F238E27FC236}">
                <a16:creationId xmlns:a16="http://schemas.microsoft.com/office/drawing/2014/main" id="{16D83ED2-EED4-A47E-1AD3-C90E5EAA4EAA}"/>
              </a:ext>
            </a:extLst>
          </p:cNvPr>
          <p:cNvSpPr txBox="1"/>
          <p:nvPr/>
        </p:nvSpPr>
        <p:spPr>
          <a:xfrm>
            <a:off x="1522690" y="57901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Định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dạng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sử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dụng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phổ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b="1" dirty="0" err="1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biến</a:t>
            </a:r>
            <a:r>
              <a:rPr lang="en-US" sz="20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: JSON, XML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9440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906D7BFC-A99B-BB00-4B1B-2E0A7907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78D90681-718E-BEB5-8EC0-5DC12FD0DC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1C8BD536-83F3-D5CA-B080-A43420ED80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8C7DD035-7469-8DF9-3B35-AD7ECFECC9B9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GIỚI THIỆU API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D0D69220-3B3D-2AAD-F03F-8C4974A7F3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EB6BECE7-5A1D-FCE0-AF65-66952BEF3684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Hình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Minh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họa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C5ED36-367C-D3D2-E379-1EB25B74D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663" y="2602838"/>
            <a:ext cx="7696673" cy="355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703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589D6CB8-C966-D93D-0B19-531A6A7E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D490544F-6863-0CA2-ED43-041417DA9F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2FF292D5-6E9B-4D44-AF54-AF93233A82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1E6C20FA-E687-C937-F259-5E816E5BE8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C4DD2023-FB3C-F34F-F07C-0E1D2FA25B01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GIỚI THIỆU API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91D59F37-FC6D-5414-DAA6-94DA4DF370B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AFFC1AD9-D0EE-4054-C688-1C00C73E1153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Ví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F07F117C-40C0-A4D8-6B50-43E1A54DBF8B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Website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gọi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API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dự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báo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thời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tiết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3005BDB8-3F9A-3699-C128-92C769E5DF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3293664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0;p18">
            <a:extLst>
              <a:ext uri="{FF2B5EF4-FFF2-40B4-BE49-F238E27FC236}">
                <a16:creationId xmlns:a16="http://schemas.microsoft.com/office/drawing/2014/main" id="{3C9DC52D-6756-1762-F755-56B5ECAD1940}"/>
              </a:ext>
            </a:extLst>
          </p:cNvPr>
          <p:cNvSpPr txBox="1"/>
          <p:nvPr/>
        </p:nvSpPr>
        <p:spPr>
          <a:xfrm>
            <a:off x="1522690" y="3603754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Ứng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ngân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hàng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gọi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API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để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chuyển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tiền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oogle Shape;163;p18" descr="image.png">
            <a:extLst>
              <a:ext uri="{FF2B5EF4-FFF2-40B4-BE49-F238E27FC236}">
                <a16:creationId xmlns:a16="http://schemas.microsoft.com/office/drawing/2014/main" id="{ED7D4B84-0780-F10D-70C4-DCD7B33B30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4386865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0;p18">
            <a:extLst>
              <a:ext uri="{FF2B5EF4-FFF2-40B4-BE49-F238E27FC236}">
                <a16:creationId xmlns:a16="http://schemas.microsoft.com/office/drawing/2014/main" id="{F6976068-D2D6-1C33-25E6-96DD1F56DAFA}"/>
              </a:ext>
            </a:extLst>
          </p:cNvPr>
          <p:cNvSpPr txBox="1"/>
          <p:nvPr/>
        </p:nvSpPr>
        <p:spPr>
          <a:xfrm>
            <a:off x="1522690" y="46969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Website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gọi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API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để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lấy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danh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Google Shape;163;p18" descr="image.png">
            <a:extLst>
              <a:ext uri="{FF2B5EF4-FFF2-40B4-BE49-F238E27FC236}">
                <a16:creationId xmlns:a16="http://schemas.microsoft.com/office/drawing/2014/main" id="{0A2CC1F4-E2CB-C032-7A67-D94C17D565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5480065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0;p18">
            <a:extLst>
              <a:ext uri="{FF2B5EF4-FFF2-40B4-BE49-F238E27FC236}">
                <a16:creationId xmlns:a16="http://schemas.microsoft.com/office/drawing/2014/main" id="{7BA13BAB-1FE9-F1AC-90B6-88D5E1F260CF}"/>
              </a:ext>
            </a:extLst>
          </p:cNvPr>
          <p:cNvSpPr txBox="1"/>
          <p:nvPr/>
        </p:nvSpPr>
        <p:spPr>
          <a:xfrm>
            <a:off x="1522690" y="57901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Website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chợ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tốt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gọi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API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để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hiển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thị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danh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trọ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1156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F6CCF55E-1CFB-3BD5-4814-4F5DC2A2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B0949741-6446-A9D8-0813-97C8F0CCAD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BDE4183F-E2B7-C7E9-7753-41CC98602E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9F3A2D52-16E1-0966-E59F-EDF59D347E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A2B0AD3D-548E-A700-B1F3-097840D5372D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URL TRONG API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35BF76E2-609C-9AAC-CA35-0B152F8825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99531F0B-3D32-A321-EDE8-6343A419FA73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https://api.example.com/users/123</a:t>
            </a: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0F285976-2123-D09D-A19D-042731804CEA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https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- Giao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2906866C-917E-F837-F37B-D598CE162F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3293664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0;p18">
            <a:extLst>
              <a:ext uri="{FF2B5EF4-FFF2-40B4-BE49-F238E27FC236}">
                <a16:creationId xmlns:a16="http://schemas.microsoft.com/office/drawing/2014/main" id="{8BA329B4-4387-4246-A453-76159279B362}"/>
              </a:ext>
            </a:extLst>
          </p:cNvPr>
          <p:cNvSpPr txBox="1"/>
          <p:nvPr/>
        </p:nvSpPr>
        <p:spPr>
          <a:xfrm>
            <a:off x="1522690" y="3603754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api.example.com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- Domain</a:t>
            </a:r>
          </a:p>
        </p:txBody>
      </p:sp>
      <p:pic>
        <p:nvPicPr>
          <p:cNvPr id="4" name="Google Shape;163;p18" descr="image.png">
            <a:extLst>
              <a:ext uri="{FF2B5EF4-FFF2-40B4-BE49-F238E27FC236}">
                <a16:creationId xmlns:a16="http://schemas.microsoft.com/office/drawing/2014/main" id="{EEA16454-3CCD-D060-A6AD-A105B96351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4386865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0;p18">
            <a:extLst>
              <a:ext uri="{FF2B5EF4-FFF2-40B4-BE49-F238E27FC236}">
                <a16:creationId xmlns:a16="http://schemas.microsoft.com/office/drawing/2014/main" id="{9C5FD96E-82B0-9313-BEE0-100A1B2F5F6C}"/>
              </a:ext>
            </a:extLst>
          </p:cNvPr>
          <p:cNvSpPr txBox="1"/>
          <p:nvPr/>
        </p:nvSpPr>
        <p:spPr>
          <a:xfrm>
            <a:off x="1522690" y="46969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users/123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- Endpoint</a:t>
            </a:r>
          </a:p>
        </p:txBody>
      </p:sp>
    </p:spTree>
    <p:extLst>
      <p:ext uri="{BB962C8B-B14F-4D97-AF65-F5344CB8AC3E}">
        <p14:creationId xmlns:p14="http://schemas.microsoft.com/office/powerpoint/2010/main" val="10028701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2DF2E84C-4A85-6418-8283-8AA8C30A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C8FFF57F-8D0F-A2CA-B738-6EFFF355B4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E1BDFD30-176F-5073-261A-C6A084C03F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6F98A703-F83C-C1A6-2C8B-D81B6F27E40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46180D64-6E61-57DA-19B4-E66B75A09B87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URL TRONG API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AF2F0EDE-9976-E426-A121-67CAE8F4C06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B42A4E68-318D-C2D5-28A2-D65245BDD61C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Ví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</a:t>
            </a:r>
            <a:endParaRPr lang="en-US" sz="2000" b="1" i="0" u="none" strike="noStrike" cap="none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F0C44869-060F-4B53-B86F-611EDFB9CE55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GET</a:t>
            </a:r>
            <a:r>
              <a:rPr 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https://api.shop.com/products</a:t>
            </a: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634057C8-82B0-5B51-8EB9-82F07BF76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3293664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0;p18">
            <a:extLst>
              <a:ext uri="{FF2B5EF4-FFF2-40B4-BE49-F238E27FC236}">
                <a16:creationId xmlns:a16="http://schemas.microsoft.com/office/drawing/2014/main" id="{442745C2-AC77-839C-4A60-1507C7E74E62}"/>
              </a:ext>
            </a:extLst>
          </p:cNvPr>
          <p:cNvSpPr txBox="1"/>
          <p:nvPr/>
        </p:nvSpPr>
        <p:spPr>
          <a:xfrm>
            <a:off x="1522690" y="3603754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Lấy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danh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23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48592214-6670-CFC2-D110-2C588597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6D77AA27-4A53-6EC8-45F2-D324A744B1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87BB9F1D-DD42-D966-9E5B-F2101CC1B4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8E20E81-631B-A43E-B78D-3A6C6AB088E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HTTP METHOD API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CFA02349-BBF0-B380-5AC7-C94D676931C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12E971B9-3F17-1D7C-F8ED-892D15D6C9D0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GET –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Lấy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000" b="1" i="0" u="none" strike="noStrike" cap="none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pic>
        <p:nvPicPr>
          <p:cNvPr id="4" name="Google Shape;162;p18" descr="image.png">
            <a:extLst>
              <a:ext uri="{FF2B5EF4-FFF2-40B4-BE49-F238E27FC236}">
                <a16:creationId xmlns:a16="http://schemas.microsoft.com/office/drawing/2014/main" id="{689F786C-FD9D-5CEA-4B81-0AC45678F9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2319204"/>
            <a:ext cx="10287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9;p18">
            <a:extLst>
              <a:ext uri="{FF2B5EF4-FFF2-40B4-BE49-F238E27FC236}">
                <a16:creationId xmlns:a16="http://schemas.microsoft.com/office/drawing/2014/main" id="{45564FEE-73AE-D33B-27E8-20BC17FD612C}"/>
              </a:ext>
            </a:extLst>
          </p:cNvPr>
          <p:cNvSpPr txBox="1"/>
          <p:nvPr/>
        </p:nvSpPr>
        <p:spPr>
          <a:xfrm>
            <a:off x="1562695" y="2547804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POST –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Tạo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mới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000" b="1" i="0" u="none" strike="noStrike" cap="none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pic>
        <p:nvPicPr>
          <p:cNvPr id="6" name="Google Shape;162;p18" descr="image.png">
            <a:extLst>
              <a:ext uri="{FF2B5EF4-FFF2-40B4-BE49-F238E27FC236}">
                <a16:creationId xmlns:a16="http://schemas.microsoft.com/office/drawing/2014/main" id="{CCF26641-6D36-0B8A-91E8-9A74A9DAA9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3338379"/>
            <a:ext cx="10287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69;p18">
            <a:extLst>
              <a:ext uri="{FF2B5EF4-FFF2-40B4-BE49-F238E27FC236}">
                <a16:creationId xmlns:a16="http://schemas.microsoft.com/office/drawing/2014/main" id="{954BA11E-AF89-6954-959D-2FB6C90C7E0F}"/>
              </a:ext>
            </a:extLst>
          </p:cNvPr>
          <p:cNvSpPr txBox="1"/>
          <p:nvPr/>
        </p:nvSpPr>
        <p:spPr>
          <a:xfrm>
            <a:off x="1562695" y="356697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PUT –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Cập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nhật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000" b="1" i="0" u="none" strike="noStrike" cap="none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  <p:pic>
        <p:nvPicPr>
          <p:cNvPr id="8" name="Google Shape;162;p18" descr="image.png">
            <a:extLst>
              <a:ext uri="{FF2B5EF4-FFF2-40B4-BE49-F238E27FC236}">
                <a16:creationId xmlns:a16="http://schemas.microsoft.com/office/drawing/2014/main" id="{BA050B92-8454-175F-2EBF-2CDBD23240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4331956"/>
            <a:ext cx="10287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9;p18">
            <a:extLst>
              <a:ext uri="{FF2B5EF4-FFF2-40B4-BE49-F238E27FC236}">
                <a16:creationId xmlns:a16="http://schemas.microsoft.com/office/drawing/2014/main" id="{EE08A70C-BD3B-7FDF-81A7-9293B069E1C5}"/>
              </a:ext>
            </a:extLst>
          </p:cNvPr>
          <p:cNvSpPr txBox="1"/>
          <p:nvPr/>
        </p:nvSpPr>
        <p:spPr>
          <a:xfrm>
            <a:off x="1562695" y="4560556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DELETE –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Xóa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endParaRPr lang="en-US" sz="2000" b="1" i="0" u="none" strike="noStrike" cap="none" dirty="0">
              <a:solidFill>
                <a:srgbClr val="374151"/>
              </a:solidFill>
              <a:latin typeface="Verdana" panose="020B0604030504040204" pitchFamily="34" charset="0"/>
              <a:ea typeface="Verdana" panose="020B0604030504040204" pitchFamily="34" charset="0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540599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706DB102-F9C1-BB00-B03A-4A946E2F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356CABE7-AC68-BD8B-2056-24B08A5482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62D413C2-BA54-4A18-8F20-A75D7D384B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3AFC1AC1-E811-A443-F9F3-45F0A5B0E8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77F8522-AD9F-E5E4-24F3-A5AADA2C5F80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HTTP METHOD API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4E58D2A1-B9A0-0338-ECDD-289169A8225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97F375FE-05A5-F169-E88C-9DC42E412471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Ví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E3706619-C0FD-6592-6DE6-32E76A38A85C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GET    /users        →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Lấy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danh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sách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user</a:t>
            </a: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2C7F4379-1D5B-7E88-AD62-3A5799F3E4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3293664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0;p18">
            <a:extLst>
              <a:ext uri="{FF2B5EF4-FFF2-40B4-BE49-F238E27FC236}">
                <a16:creationId xmlns:a16="http://schemas.microsoft.com/office/drawing/2014/main" id="{0784B273-57D0-B5C7-C2E6-1FDD2C2F232C}"/>
              </a:ext>
            </a:extLst>
          </p:cNvPr>
          <p:cNvSpPr txBox="1"/>
          <p:nvPr/>
        </p:nvSpPr>
        <p:spPr>
          <a:xfrm>
            <a:off x="1522690" y="3603754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POST   /users        →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user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mới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oogle Shape;163;p18" descr="image.png">
            <a:extLst>
              <a:ext uri="{FF2B5EF4-FFF2-40B4-BE49-F238E27FC236}">
                <a16:creationId xmlns:a16="http://schemas.microsoft.com/office/drawing/2014/main" id="{39659CEA-CC0C-7093-0F2E-A59DC4AC2E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4386865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0;p18">
            <a:extLst>
              <a:ext uri="{FF2B5EF4-FFF2-40B4-BE49-F238E27FC236}">
                <a16:creationId xmlns:a16="http://schemas.microsoft.com/office/drawing/2014/main" id="{BC664C34-E34E-D035-091C-09318FF2D9FF}"/>
              </a:ext>
            </a:extLst>
          </p:cNvPr>
          <p:cNvSpPr txBox="1"/>
          <p:nvPr/>
        </p:nvSpPr>
        <p:spPr>
          <a:xfrm>
            <a:off x="1522690" y="46969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PUT    /users/5      →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Cập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nhật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user</a:t>
            </a:r>
          </a:p>
        </p:txBody>
      </p:sp>
      <p:pic>
        <p:nvPicPr>
          <p:cNvPr id="6" name="Google Shape;163;p18" descr="image.png">
            <a:extLst>
              <a:ext uri="{FF2B5EF4-FFF2-40B4-BE49-F238E27FC236}">
                <a16:creationId xmlns:a16="http://schemas.microsoft.com/office/drawing/2014/main" id="{3417F356-443A-E090-02C4-FD476BA9F9F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5480065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0;p18">
            <a:extLst>
              <a:ext uri="{FF2B5EF4-FFF2-40B4-BE49-F238E27FC236}">
                <a16:creationId xmlns:a16="http://schemas.microsoft.com/office/drawing/2014/main" id="{DB49B1E3-2D53-75CA-19D6-12591C59A992}"/>
              </a:ext>
            </a:extLst>
          </p:cNvPr>
          <p:cNvSpPr txBox="1"/>
          <p:nvPr/>
        </p:nvSpPr>
        <p:spPr>
          <a:xfrm>
            <a:off x="1522690" y="57901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2000" dirty="0">
                <a:latin typeface="Verdana" panose="020B0604030504040204" pitchFamily="34" charset="0"/>
                <a:ea typeface="Verdana" panose="020B0604030504040204" pitchFamily="34" charset="0"/>
              </a:rPr>
              <a:t>DELETE /users/5      → Xóa user</a:t>
            </a:r>
          </a:p>
        </p:txBody>
      </p:sp>
    </p:spTree>
    <p:extLst>
      <p:ext uri="{BB962C8B-B14F-4D97-AF65-F5344CB8AC3E}">
        <p14:creationId xmlns:p14="http://schemas.microsoft.com/office/powerpoint/2010/main" val="4944484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64039F13-05A5-A730-8A16-9C854660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2EC3184B-ACC5-E76C-A2E9-F5D11A77BF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19670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2D1BC80D-06E4-3BB3-3602-60F793AA99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078ED29A-4606-EC65-9825-0EA2AB29EEF6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HTTP STATUS CODE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BAE392C2-9645-56AB-9A68-BDE446035DA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09E47EF8-8534-C141-A3F3-627E72D79FF1}"/>
              </a:ext>
            </a:extLst>
          </p:cNvPr>
          <p:cNvSpPr txBox="1"/>
          <p:nvPr/>
        </p:nvSpPr>
        <p:spPr>
          <a:xfrm>
            <a:off x="1562695" y="1648270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Nhóm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2xx – Thành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công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(Success)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Google Shape;162;p18" descr="image.png">
            <a:extLst>
              <a:ext uri="{FF2B5EF4-FFF2-40B4-BE49-F238E27FC236}">
                <a16:creationId xmlns:a16="http://schemas.microsoft.com/office/drawing/2014/main" id="{372E393E-B46F-02AB-0374-A30289866C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2384776"/>
            <a:ext cx="10287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9;p18">
            <a:extLst>
              <a:ext uri="{FF2B5EF4-FFF2-40B4-BE49-F238E27FC236}">
                <a16:creationId xmlns:a16="http://schemas.microsoft.com/office/drawing/2014/main" id="{AAFAA1BF-B940-801F-417E-FE228370382A}"/>
              </a:ext>
            </a:extLst>
          </p:cNvPr>
          <p:cNvSpPr txBox="1"/>
          <p:nvPr/>
        </p:nvSpPr>
        <p:spPr>
          <a:xfrm>
            <a:off x="1562695" y="2613376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Nhóm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3xx –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Điều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hướng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(Redirection)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Google Shape;162;p18" descr="image.png">
            <a:extLst>
              <a:ext uri="{FF2B5EF4-FFF2-40B4-BE49-F238E27FC236}">
                <a16:creationId xmlns:a16="http://schemas.microsoft.com/office/drawing/2014/main" id="{1E8265A2-3989-B33B-0E2D-43B4FF2C47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3354654"/>
            <a:ext cx="10287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8">
            <a:extLst>
              <a:ext uri="{FF2B5EF4-FFF2-40B4-BE49-F238E27FC236}">
                <a16:creationId xmlns:a16="http://schemas.microsoft.com/office/drawing/2014/main" id="{E2C6A150-7B95-FCA5-CF04-91D5E572D6CD}"/>
              </a:ext>
            </a:extLst>
          </p:cNvPr>
          <p:cNvSpPr txBox="1"/>
          <p:nvPr/>
        </p:nvSpPr>
        <p:spPr>
          <a:xfrm>
            <a:off x="1562695" y="3583254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Nhóm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4xx –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Lỗi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phía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client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Google Shape;162;p18" descr="image.png">
            <a:extLst>
              <a:ext uri="{FF2B5EF4-FFF2-40B4-BE49-F238E27FC236}">
                <a16:creationId xmlns:a16="http://schemas.microsoft.com/office/drawing/2014/main" id="{AFDBBA8F-BA81-3CA1-F9D4-5EE4957BE7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4324532"/>
            <a:ext cx="10287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69;p18">
            <a:extLst>
              <a:ext uri="{FF2B5EF4-FFF2-40B4-BE49-F238E27FC236}">
                <a16:creationId xmlns:a16="http://schemas.microsoft.com/office/drawing/2014/main" id="{6FCEA9CE-E636-E45F-7442-0E71AB42603A}"/>
              </a:ext>
            </a:extLst>
          </p:cNvPr>
          <p:cNvSpPr txBox="1"/>
          <p:nvPr/>
        </p:nvSpPr>
        <p:spPr>
          <a:xfrm>
            <a:off x="1562695" y="4553132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Nhóm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5xx –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Lỗi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phía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server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443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F27F6FFA-1F9B-BB05-1F88-616FE0DAA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740C1F67-2CA7-CA76-618F-7380342EF8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06851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C5F26D6E-2D45-2D53-57C8-F8483108CA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FEA50E83-A6CB-F4E2-94E2-232BEC17B46E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HEADERS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DE515777-45A0-3579-43A7-0D857C34F72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21AE9154-48EF-9E05-94C0-71A3AEE8CE78}"/>
              </a:ext>
            </a:extLst>
          </p:cNvPr>
          <p:cNvSpPr txBox="1"/>
          <p:nvPr/>
        </p:nvSpPr>
        <p:spPr>
          <a:xfrm>
            <a:off x="1562695" y="1635451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Headers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thông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tin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gửi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kèm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request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Google Shape;162;p18" descr="image.png">
            <a:extLst>
              <a:ext uri="{FF2B5EF4-FFF2-40B4-BE49-F238E27FC236}">
                <a16:creationId xmlns:a16="http://schemas.microsoft.com/office/drawing/2014/main" id="{DE0176D5-CFCF-DFE8-FD30-7ED7204275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2371957"/>
            <a:ext cx="10287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9;p18">
            <a:extLst>
              <a:ext uri="{FF2B5EF4-FFF2-40B4-BE49-F238E27FC236}">
                <a16:creationId xmlns:a16="http://schemas.microsoft.com/office/drawing/2014/main" id="{FC141DCB-B6FD-F97F-8B6D-37CFE93EE1D9}"/>
              </a:ext>
            </a:extLst>
          </p:cNvPr>
          <p:cNvSpPr txBox="1"/>
          <p:nvPr/>
        </p:nvSpPr>
        <p:spPr>
          <a:xfrm>
            <a:off x="1562695" y="2600557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Ví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342DA3-3B53-40B3-16B8-28841E1DB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3114" y="3565663"/>
            <a:ext cx="5585771" cy="278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643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E2BA40A0-C8B6-9D91-3814-D25934EE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A7E1875E-B1A8-D49C-02DA-A19E59A257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06851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7E28D2E1-DA8D-5591-584D-A309527C23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667116A-C350-6680-3FC3-8F619A988A3F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PARAMETERS(THAM SỐ)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52F43E2D-691C-F127-EFEA-13367C79BE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3D16116C-75C5-CD8E-3185-A0C10AB1381B}"/>
              </a:ext>
            </a:extLst>
          </p:cNvPr>
          <p:cNvSpPr txBox="1"/>
          <p:nvPr/>
        </p:nvSpPr>
        <p:spPr>
          <a:xfrm>
            <a:off x="1562695" y="1635451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Parameters(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tham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số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)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là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dữ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liệu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mà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client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gửi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lên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server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khi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gọi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API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72FEC2D1-3D71-D68C-FE0F-95F75296CCF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2478779"/>
            <a:ext cx="10287000" cy="8571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0;p18">
            <a:extLst>
              <a:ext uri="{FF2B5EF4-FFF2-40B4-BE49-F238E27FC236}">
                <a16:creationId xmlns:a16="http://schemas.microsoft.com/office/drawing/2014/main" id="{FF5F6742-0DB9-1288-2F1C-563F5B4281C7}"/>
              </a:ext>
            </a:extLst>
          </p:cNvPr>
          <p:cNvSpPr txBox="1"/>
          <p:nvPr/>
        </p:nvSpPr>
        <p:spPr>
          <a:xfrm>
            <a:off x="1542692" y="27534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Cần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xử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lý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dữ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liệu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nào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/>
              <a:sym typeface="Times New Roman"/>
            </a:endParaRPr>
          </a:p>
        </p:txBody>
      </p:sp>
      <p:pic>
        <p:nvPicPr>
          <p:cNvPr id="5" name="Google Shape;163;p18" descr="image.png">
            <a:extLst>
              <a:ext uri="{FF2B5EF4-FFF2-40B4-BE49-F238E27FC236}">
                <a16:creationId xmlns:a16="http://schemas.microsoft.com/office/drawing/2014/main" id="{C5931E0B-474C-06D0-450F-281D777FBD6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3507308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0;p18">
            <a:extLst>
              <a:ext uri="{FF2B5EF4-FFF2-40B4-BE49-F238E27FC236}">
                <a16:creationId xmlns:a16="http://schemas.microsoft.com/office/drawing/2014/main" id="{627F790E-13AF-DE5A-DE45-77E9C321821F}"/>
              </a:ext>
            </a:extLst>
          </p:cNvPr>
          <p:cNvSpPr txBox="1"/>
          <p:nvPr/>
        </p:nvSpPr>
        <p:spPr>
          <a:xfrm>
            <a:off x="1522690" y="3817398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Lọc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tìm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kiếm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trang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Google Shape;163;p18" descr="image.png">
            <a:extLst>
              <a:ext uri="{FF2B5EF4-FFF2-40B4-BE49-F238E27FC236}">
                <a16:creationId xmlns:a16="http://schemas.microsoft.com/office/drawing/2014/main" id="{D6A3EB28-3E9B-B4D1-79A2-526C9CCB89A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4600509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0;p18">
            <a:extLst>
              <a:ext uri="{FF2B5EF4-FFF2-40B4-BE49-F238E27FC236}">
                <a16:creationId xmlns:a16="http://schemas.microsoft.com/office/drawing/2014/main" id="{1EF673C0-47E7-FB55-5F95-3CA6BE6A603B}"/>
              </a:ext>
            </a:extLst>
          </p:cNvPr>
          <p:cNvSpPr txBox="1"/>
          <p:nvPr/>
        </p:nvSpPr>
        <p:spPr>
          <a:xfrm>
            <a:off x="1522690" y="4910599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hoặc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cập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nhật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5795290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A649D8B2-0014-D028-2598-DB1628D2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AEAFF386-749C-6F97-9EA2-2C69A07046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06851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AF486AC6-A9BC-A00F-3857-343E400E9A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885DD9B8-4970-38C3-3D8B-3944BF633503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PARAMETERS(THAM SỐ)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53C4AEAE-1ADE-C851-B0CE-BA8D0C396F0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BF562AE8-E9C5-2A64-598C-2696A84E8389}"/>
              </a:ext>
            </a:extLst>
          </p:cNvPr>
          <p:cNvSpPr txBox="1"/>
          <p:nvPr/>
        </p:nvSpPr>
        <p:spPr>
          <a:xfrm>
            <a:off x="1562695" y="1635451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loại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Parameters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F81DFF2F-A0A1-AF14-A3F0-D55E06C68FB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2478779"/>
            <a:ext cx="10287000" cy="8571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0;p18">
            <a:extLst>
              <a:ext uri="{FF2B5EF4-FFF2-40B4-BE49-F238E27FC236}">
                <a16:creationId xmlns:a16="http://schemas.microsoft.com/office/drawing/2014/main" id="{D2E33B26-E427-3A31-BCFC-1BA046B514BB}"/>
              </a:ext>
            </a:extLst>
          </p:cNvPr>
          <p:cNvSpPr txBox="1"/>
          <p:nvPr/>
        </p:nvSpPr>
        <p:spPr>
          <a:xfrm>
            <a:off x="1542692" y="27534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1. Path Parameters</a:t>
            </a:r>
          </a:p>
        </p:txBody>
      </p:sp>
      <p:pic>
        <p:nvPicPr>
          <p:cNvPr id="5" name="Google Shape;163;p18" descr="image.png">
            <a:extLst>
              <a:ext uri="{FF2B5EF4-FFF2-40B4-BE49-F238E27FC236}">
                <a16:creationId xmlns:a16="http://schemas.microsoft.com/office/drawing/2014/main" id="{D5CB2702-2158-9603-C670-D548F33E86E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3507308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0;p18">
            <a:extLst>
              <a:ext uri="{FF2B5EF4-FFF2-40B4-BE49-F238E27FC236}">
                <a16:creationId xmlns:a16="http://schemas.microsoft.com/office/drawing/2014/main" id="{010F6004-E483-EBB5-592C-68396EDB724A}"/>
              </a:ext>
            </a:extLst>
          </p:cNvPr>
          <p:cNvSpPr txBox="1"/>
          <p:nvPr/>
        </p:nvSpPr>
        <p:spPr>
          <a:xfrm>
            <a:off x="1522690" y="3817398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Dùng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xác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tài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nguyên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thể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Google Shape;163;p18" descr="image.png">
            <a:extLst>
              <a:ext uri="{FF2B5EF4-FFF2-40B4-BE49-F238E27FC236}">
                <a16:creationId xmlns:a16="http://schemas.microsoft.com/office/drawing/2014/main" id="{8D34BB88-77C1-C08B-D08A-357C02F3237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4600509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0;p18">
            <a:extLst>
              <a:ext uri="{FF2B5EF4-FFF2-40B4-BE49-F238E27FC236}">
                <a16:creationId xmlns:a16="http://schemas.microsoft.com/office/drawing/2014/main" id="{884554CA-C78B-DBD8-0F45-A344FA53B608}"/>
              </a:ext>
            </a:extLst>
          </p:cNvPr>
          <p:cNvSpPr txBox="1"/>
          <p:nvPr/>
        </p:nvSpPr>
        <p:spPr>
          <a:xfrm>
            <a:off x="1522690" y="4910599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Ví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dụ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: GET /users/5 -&gt; 5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là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parameters(ID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của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user)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9497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B69BAE64-599A-8393-1E95-D0944E40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86351E1C-68DE-A19E-6B6E-6F79F53CEE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06851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126B6F5F-668E-AF61-D0AB-EF03399EFE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458BB752-DE91-EFF6-7198-4D99969B4118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PARAMETERS(THAM SỐ)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705B101D-EF2F-DE90-B7B9-0ABB4D4B3D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70420F09-EFBF-401A-858B-D80E38EA7424}"/>
              </a:ext>
            </a:extLst>
          </p:cNvPr>
          <p:cNvSpPr txBox="1"/>
          <p:nvPr/>
        </p:nvSpPr>
        <p:spPr>
          <a:xfrm>
            <a:off x="1562695" y="1635451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loại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Parameters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341C3F68-4A4D-B6ED-0F0C-E996979FA8E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2478779"/>
            <a:ext cx="10287000" cy="8571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0;p18">
            <a:extLst>
              <a:ext uri="{FF2B5EF4-FFF2-40B4-BE49-F238E27FC236}">
                <a16:creationId xmlns:a16="http://schemas.microsoft.com/office/drawing/2014/main" id="{4931BABC-54D7-6753-DDDB-2098A7A0BE3B}"/>
              </a:ext>
            </a:extLst>
          </p:cNvPr>
          <p:cNvSpPr txBox="1"/>
          <p:nvPr/>
        </p:nvSpPr>
        <p:spPr>
          <a:xfrm>
            <a:off x="1542692" y="27534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2. Query Parameters</a:t>
            </a:r>
          </a:p>
        </p:txBody>
      </p:sp>
      <p:pic>
        <p:nvPicPr>
          <p:cNvPr id="5" name="Google Shape;163;p18" descr="image.png">
            <a:extLst>
              <a:ext uri="{FF2B5EF4-FFF2-40B4-BE49-F238E27FC236}">
                <a16:creationId xmlns:a16="http://schemas.microsoft.com/office/drawing/2014/main" id="{12F8B598-A552-0E93-483E-B3C8F37481D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3507308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0;p18">
            <a:extLst>
              <a:ext uri="{FF2B5EF4-FFF2-40B4-BE49-F238E27FC236}">
                <a16:creationId xmlns:a16="http://schemas.microsoft.com/office/drawing/2014/main" id="{E8FBCC35-1FCD-1E90-B252-43D2A8474442}"/>
              </a:ext>
            </a:extLst>
          </p:cNvPr>
          <p:cNvSpPr txBox="1"/>
          <p:nvPr/>
        </p:nvSpPr>
        <p:spPr>
          <a:xfrm>
            <a:off x="1522690" y="3817398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Dùng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để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lọc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tìm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kiếm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trang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Google Shape;163;p18" descr="image.png">
            <a:extLst>
              <a:ext uri="{FF2B5EF4-FFF2-40B4-BE49-F238E27FC236}">
                <a16:creationId xmlns:a16="http://schemas.microsoft.com/office/drawing/2014/main" id="{2D454774-5863-CF56-B564-6DC59DAFAB0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4600509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0;p18">
            <a:extLst>
              <a:ext uri="{FF2B5EF4-FFF2-40B4-BE49-F238E27FC236}">
                <a16:creationId xmlns:a16="http://schemas.microsoft.com/office/drawing/2014/main" id="{D02185ED-3AF5-768F-47CC-7974A15DA1D2}"/>
              </a:ext>
            </a:extLst>
          </p:cNvPr>
          <p:cNvSpPr txBox="1"/>
          <p:nvPr/>
        </p:nvSpPr>
        <p:spPr>
          <a:xfrm>
            <a:off x="1522690" y="4910599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Ví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dụ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: GET /</a:t>
            </a:r>
            <a:r>
              <a:rPr lang="en-US" sz="20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users?page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/>
                <a:sym typeface="Times New Roman"/>
              </a:rPr>
              <a:t>=2&amp;page_size=100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6245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11B0DB4B-4249-0B17-A15A-6110A4B1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64274482-2368-3F50-1D77-B20F9CB0E6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06851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33A6E6E2-8A1D-4DEA-E56A-31180A4582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F21E9370-C8DD-AF31-2055-8CB5FA141C32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PARAMETERS(THAM SỐ)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4238B7C5-0CA3-E381-DFAA-7C7600A4FD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B1A25F27-3CEA-70FC-2D4F-7CF7836BD01B}"/>
              </a:ext>
            </a:extLst>
          </p:cNvPr>
          <p:cNvSpPr txBox="1"/>
          <p:nvPr/>
        </p:nvSpPr>
        <p:spPr>
          <a:xfrm>
            <a:off x="1562695" y="1635451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Các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loại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Parameters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B4DC4B58-7EB3-0B55-4F92-F01BCFF5A12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2478779"/>
            <a:ext cx="10287000" cy="8571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0;p18">
            <a:extLst>
              <a:ext uri="{FF2B5EF4-FFF2-40B4-BE49-F238E27FC236}">
                <a16:creationId xmlns:a16="http://schemas.microsoft.com/office/drawing/2014/main" id="{654CB88B-8B1C-4C84-6E92-9E1EC972860A}"/>
              </a:ext>
            </a:extLst>
          </p:cNvPr>
          <p:cNvSpPr txBox="1"/>
          <p:nvPr/>
        </p:nvSpPr>
        <p:spPr>
          <a:xfrm>
            <a:off x="1542692" y="2753455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3. Body Parameters</a:t>
            </a:r>
          </a:p>
        </p:txBody>
      </p:sp>
      <p:pic>
        <p:nvPicPr>
          <p:cNvPr id="5" name="Google Shape;163;p18" descr="image.png">
            <a:extLst>
              <a:ext uri="{FF2B5EF4-FFF2-40B4-BE49-F238E27FC236}">
                <a16:creationId xmlns:a16="http://schemas.microsoft.com/office/drawing/2014/main" id="{1DA1D58A-59A8-FC49-6512-18DB75E8280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3507308"/>
            <a:ext cx="10287000" cy="92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0;p18">
            <a:extLst>
              <a:ext uri="{FF2B5EF4-FFF2-40B4-BE49-F238E27FC236}">
                <a16:creationId xmlns:a16="http://schemas.microsoft.com/office/drawing/2014/main" id="{BE326849-B0CA-59CE-0134-FF5E24662227}"/>
              </a:ext>
            </a:extLst>
          </p:cNvPr>
          <p:cNvSpPr txBox="1"/>
          <p:nvPr/>
        </p:nvSpPr>
        <p:spPr>
          <a:xfrm>
            <a:off x="1522690" y="3817398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Dùng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khi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gửi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hoặc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cập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nhật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Google Shape;163;p18" descr="image.png">
            <a:extLst>
              <a:ext uri="{FF2B5EF4-FFF2-40B4-BE49-F238E27FC236}">
                <a16:creationId xmlns:a16="http://schemas.microsoft.com/office/drawing/2014/main" id="{315DE9D2-5451-059A-5098-4D0E0F994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4600508"/>
            <a:ext cx="10287000" cy="176183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0;p18">
            <a:extLst>
              <a:ext uri="{FF2B5EF4-FFF2-40B4-BE49-F238E27FC236}">
                <a16:creationId xmlns:a16="http://schemas.microsoft.com/office/drawing/2014/main" id="{C97D60DC-FF4F-C924-905E-8DF6C5CB1997}"/>
              </a:ext>
            </a:extLst>
          </p:cNvPr>
          <p:cNvSpPr txBox="1"/>
          <p:nvPr/>
        </p:nvSpPr>
        <p:spPr>
          <a:xfrm>
            <a:off x="1522690" y="4711703"/>
            <a:ext cx="1032129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POST /users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Body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"name": "</a:t>
            </a:r>
            <a:r>
              <a:rPr lang="en-US" dirty="0" err="1"/>
              <a:t>Nguyễn</a:t>
            </a:r>
            <a:r>
              <a:rPr lang="en-US" dirty="0"/>
              <a:t> Văn A",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"email": “nguyenvana@gmail.com"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9302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C9A78511-51B3-0E12-B146-FE7BED10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EA8CB5DD-600B-4F3D-5EEC-5929BCDFC2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06851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54C0F2E7-866F-922F-1929-8E87F5A6A4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ED7FD848-29D3-649E-92F3-2B8635B3562D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BÀI TẬP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DE8B6F86-3C83-902A-B9CF-89ABB8D0B32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6E2EC381-9510-D11F-1607-FD05B9F6D01D}"/>
              </a:ext>
            </a:extLst>
          </p:cNvPr>
          <p:cNvSpPr txBox="1"/>
          <p:nvPr/>
        </p:nvSpPr>
        <p:spPr>
          <a:xfrm>
            <a:off x="1562695" y="1635451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dụng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CRUD API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cơ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bản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Google Shape;163;p18" descr="image.png">
            <a:extLst>
              <a:ext uri="{FF2B5EF4-FFF2-40B4-BE49-F238E27FC236}">
                <a16:creationId xmlns:a16="http://schemas.microsoft.com/office/drawing/2014/main" id="{BD126A39-8AE6-48CA-B27A-3930A3328F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995" y="2426027"/>
            <a:ext cx="10287000" cy="317574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0;p18">
            <a:extLst>
              <a:ext uri="{FF2B5EF4-FFF2-40B4-BE49-F238E27FC236}">
                <a16:creationId xmlns:a16="http://schemas.microsoft.com/office/drawing/2014/main" id="{9AC4C1AC-9B02-07E0-0FD1-D8B3B8536FD1}"/>
              </a:ext>
            </a:extLst>
          </p:cNvPr>
          <p:cNvSpPr txBox="1"/>
          <p:nvPr/>
        </p:nvSpPr>
        <p:spPr>
          <a:xfrm>
            <a:off x="1454324" y="2707379"/>
            <a:ext cx="10321290" cy="261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URL: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7"/>
              </a:rPr>
              <a:t>https://jsonplaceholder.typicode.com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bài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viết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Create – POST /posts 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Lấy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danh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bài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viết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GET - /posts 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Lấy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tiết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bài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viết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GET - /posts/1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Cập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nhật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bài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viết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PUT - /posts/1/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Xóa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bài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viết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 DELETE - /posts/1/</a:t>
            </a:r>
          </a:p>
        </p:txBody>
      </p:sp>
    </p:spTree>
    <p:extLst>
      <p:ext uri="{BB962C8B-B14F-4D97-AF65-F5344CB8AC3E}">
        <p14:creationId xmlns:p14="http://schemas.microsoft.com/office/powerpoint/2010/main" val="9017097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A6F9CC30-A6CF-FA5C-863C-1FB97370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B30B6E21-5026-E57A-E46C-A551902AE6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406851"/>
            <a:ext cx="10287000" cy="121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0EB85F66-59DE-A800-7409-BF8BF1F9BC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52F7E489-B84B-CCDE-62CB-F9DEB9C22FF7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BÀI TẬP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F1948787-71CF-4A2B-523A-D635F12D45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A98C870E-95A9-6D78-4723-1350AB7C0CE5}"/>
              </a:ext>
            </a:extLst>
          </p:cNvPr>
          <p:cNvSpPr txBox="1"/>
          <p:nvPr/>
        </p:nvSpPr>
        <p:spPr>
          <a:xfrm>
            <a:off x="1562695" y="1635451"/>
            <a:ext cx="102812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dụng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API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chợ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tốt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lấy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danh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sách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phòng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trọ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Đà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Nẵng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trong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5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trang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đầu</a:t>
            </a:r>
            <a:r>
              <a:rPr lang="en-US" sz="2000" b="1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tiên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6679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42D7D6DC-938A-E1C1-798B-C252B982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64AC8F0E-BEF0-68C0-1216-0525C7E672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763A6336-1167-27B5-3501-E1B53D230426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E18DE16D-01AE-8DD0-1B3F-4038AC6FCCA0}"/>
              </a:ext>
            </a:extLst>
          </p:cNvPr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5. PYTHON AUTOMATION EMAIL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BE979502-0A6F-D6CC-1110-0A9BE22F5306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163CB5-B22F-4CE5-4B4F-445BC2B637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487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91619742-FEF4-62BC-C750-CBDE90EA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298C3580-B318-0846-6897-36A2FBBE2F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AFDB9D8D-335C-EB8D-2D72-7E14C986C1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AD187AD8-3C8B-08A0-71C1-278B50B8507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00278B99-50DA-2AC0-AD98-A213344A5F85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EMAIL VÀ GIAO THỨC SMTP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DE254DFF-3F99-D36E-BF13-8DAFBCE08E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9D9F61BF-9E28-277D-8702-A6E70DE91DC7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Email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hoạt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như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nào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A54417B8-B045-C88E-5EF5-A3BCD1D07E34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SMTP(Simple Mail Transfer Protocol)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giao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để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gửi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email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089310-A494-A60C-DE6C-69A509EF53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7804" y="3461034"/>
            <a:ext cx="4036391" cy="253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202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E0D3FCB8-761A-A5B6-E4FA-9B9C1BFB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7701CDD0-1CA1-68A0-1832-AD51F74318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80244D71-6ED6-A919-2083-529D8CCD88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5B533184-8917-9E0D-20F0-F1EE1F6C2D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6B3D8BAC-421B-2CFD-6997-2AB5EF5D99D0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EMAIL VÀ GIAO THỨC SMTP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3971CCBE-7F36-F919-2FE9-CAD9D0BA49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D9F03796-8C9A-D03D-353E-629C051530E9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Email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hoạt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động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như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nào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8C06A471-739C-A34E-9C38-3E58E9F6821A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IMAP(Internet Message Access Protocol):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Đọc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email,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đông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bộ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Google Shape;163;p18" descr="image.png">
            <a:extLst>
              <a:ext uri="{FF2B5EF4-FFF2-40B4-BE49-F238E27FC236}">
                <a16:creationId xmlns:a16="http://schemas.microsoft.com/office/drawing/2014/main" id="{8E751595-32C1-EDA7-6AF6-98FC8CD320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3350451"/>
            <a:ext cx="10287000" cy="8571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0;p18">
            <a:extLst>
              <a:ext uri="{FF2B5EF4-FFF2-40B4-BE49-F238E27FC236}">
                <a16:creationId xmlns:a16="http://schemas.microsoft.com/office/drawing/2014/main" id="{82DC6194-7F7B-F40A-FB5B-33BDF1AC7D76}"/>
              </a:ext>
            </a:extLst>
          </p:cNvPr>
          <p:cNvSpPr txBox="1"/>
          <p:nvPr/>
        </p:nvSpPr>
        <p:spPr>
          <a:xfrm>
            <a:off x="1542692" y="3625127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POP3(Post Office Protocol 3):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Đọc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email,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tải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về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5892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6BA32A4E-C620-F581-54CC-F6F46EFF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CEE0B59E-5F22-A3E5-7D89-56D4F35D5F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D207C68D-A492-DB28-A83C-26D5293D29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4"/>
            <a:ext cx="10287000" cy="3900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192CD0C2-7B36-0632-C9FE-653CBDD25C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AB77A58F-EB14-2B37-8021-E45B20BFC1D2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EMAIL VÀ GIAO THỨC SMTP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5987AC28-9AD9-B4CF-8F30-8BD9640D898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13657132-3FF5-9526-F778-A742C548848E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Quy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trình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gửi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email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bằng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SMTP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52A74F1B-2053-D2BD-3E3A-21497F75427E}"/>
              </a:ext>
            </a:extLst>
          </p:cNvPr>
          <p:cNvSpPr txBox="1"/>
          <p:nvPr/>
        </p:nvSpPr>
        <p:spPr>
          <a:xfrm>
            <a:off x="1562695" y="2265134"/>
            <a:ext cx="10321290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 rtl="0" fontAlgn="base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vi-VN" sz="1800" b="1" dirty="0">
                <a:latin typeface="Verdana" panose="020B0604030504040204" pitchFamily="34" charset="0"/>
                <a:ea typeface="Verdana" panose="020B0604030504040204" pitchFamily="34" charset="0"/>
              </a:rPr>
              <a:t>Người gửi soạn email</a:t>
            </a:r>
            <a:b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  <a:t>Viết email trên ứng dụng (Gmail, Outlook, v.v.).</a:t>
            </a:r>
          </a:p>
          <a:p>
            <a:pPr marL="342900" indent="-342900" rtl="0" fontAlgn="base">
              <a:lnSpc>
                <a:spcPct val="150000"/>
              </a:lnSpc>
              <a:buFont typeface="+mj-lt"/>
              <a:buAutoNum type="arabicPeriod"/>
            </a:pPr>
            <a:r>
              <a:rPr lang="vi-VN" sz="1800" b="1" dirty="0">
                <a:latin typeface="Verdana" panose="020B0604030504040204" pitchFamily="34" charset="0"/>
                <a:ea typeface="Verdana" panose="020B0604030504040204" pitchFamily="34" charset="0"/>
              </a:rPr>
              <a:t>Ứng dụng kết nối tới máy chủ SMTP</a:t>
            </a:r>
            <a:b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  <a:t>Ứng dụng gửi email đến máy chủ SMTP của nhà cung cấp (ví dụ: smtp.gmail.com)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port:</a:t>
            </a:r>
          </a:p>
          <a:p>
            <a:pPr rtl="0" fontAlgn="base">
              <a:lnSpc>
                <a:spcPct val="150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	- 25: port SMTP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mặc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ít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hóa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rtl="0" fontAlgn="base">
              <a:lnSpc>
                <a:spcPct val="150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	- 587: SMTP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hóa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TLS(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chuẩn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bảo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mật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TLS)</a:t>
            </a:r>
          </a:p>
          <a:p>
            <a:pPr rtl="0" fontAlgn="base">
              <a:lnSpc>
                <a:spcPct val="150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	- 465: SMTP SSL(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nối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hóa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ngay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đầu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bằng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SSL)</a:t>
            </a:r>
          </a:p>
        </p:txBody>
      </p:sp>
    </p:spTree>
    <p:extLst>
      <p:ext uri="{BB962C8B-B14F-4D97-AF65-F5344CB8AC3E}">
        <p14:creationId xmlns:p14="http://schemas.microsoft.com/office/powerpoint/2010/main" val="41079391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8A4F667C-37D5-0405-1A46-3D804FCC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79B1BF27-B289-7357-D204-879FECBA3F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383B01C8-0BAE-B75A-6C7D-EFBC42E49C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4"/>
            <a:ext cx="10287000" cy="417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6E59FF2C-D0F7-DE6C-2335-5CC72B83CAA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AAA42048-DAD8-82A2-3735-875A7B6A8A2B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EMAIL VÀ GIAO THỨC SMTP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7A4605AD-6B47-B0F3-AE39-80BCB7EE7DC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DA8CEC90-1A5E-20FF-67E2-948E1AEB8505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Quy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trình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gửi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email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bằng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SMTP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FEDF0884-7263-B16C-BFCE-ECCD7384BFFE}"/>
              </a:ext>
            </a:extLst>
          </p:cNvPr>
          <p:cNvSpPr txBox="1"/>
          <p:nvPr/>
        </p:nvSpPr>
        <p:spPr>
          <a:xfrm>
            <a:off x="1424413" y="2493735"/>
            <a:ext cx="10321290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 fontAlgn="base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vi-VN" sz="1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Xác thực </a:t>
            </a:r>
            <a:r>
              <a:rPr lang="en-US" sz="18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tài</a:t>
            </a:r>
            <a:r>
              <a:rPr 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khoản</a:t>
            </a:r>
            <a:b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  <a:t>Máy chủ SMTP kiểm tra tài khoản (username, mật khẩu).</a:t>
            </a:r>
          </a:p>
          <a:p>
            <a:pPr rtl="0" fontAlgn="base">
              <a:lnSpc>
                <a:spcPct val="150000"/>
              </a:lnSpc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vi-VN" sz="1800" b="1" dirty="0">
                <a:latin typeface="Verdana" panose="020B0604030504040204" pitchFamily="34" charset="0"/>
                <a:ea typeface="Verdana" panose="020B0604030504040204" pitchFamily="34" charset="0"/>
              </a:rPr>
              <a:t>Gửi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nội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dung </a:t>
            </a:r>
            <a:r>
              <a:rPr lang="vi-VN" sz="1800" b="1" dirty="0">
                <a:latin typeface="Verdana" panose="020B0604030504040204" pitchFamily="34" charset="0"/>
                <a:ea typeface="Verdana" panose="020B0604030504040204" pitchFamily="34" charset="0"/>
              </a:rPr>
              <a:t>email đi</a:t>
            </a:r>
            <a:b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  <a:t>SMTP chuyển email tới máy chủ của người nhận.</a:t>
            </a:r>
          </a:p>
          <a:p>
            <a:pPr rtl="0" fontAlgn="base">
              <a:lnSpc>
                <a:spcPct val="150000"/>
              </a:lnSpc>
              <a:spcAft>
                <a:spcPts val="1200"/>
              </a:spcAft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vi-VN" sz="1800" b="1" dirty="0">
                <a:latin typeface="Verdana" panose="020B0604030504040204" pitchFamily="34" charset="0"/>
                <a:ea typeface="Verdana" panose="020B0604030504040204" pitchFamily="34" charset="0"/>
              </a:rPr>
              <a:t>Máy chủ người nhận lưu email</a:t>
            </a:r>
            <a:b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vi-VN" sz="1800" dirty="0">
                <a:latin typeface="Verdana" panose="020B0604030504040204" pitchFamily="34" charset="0"/>
                <a:ea typeface="Verdana" panose="020B0604030504040204" pitchFamily="34" charset="0"/>
              </a:rPr>
              <a:t>Email được lưu vào hộp thư người nhận để họ đọc bằng POP3 hoặc IMAP.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2614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AE554831-AF42-8F1C-2155-C4579C36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B935B094-D721-DC6F-FF5E-AE69109B4C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EC3E5077-0628-C7D2-B03D-E6E3E92973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C980F0AC-1AAF-6B11-494E-BF15203172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8A2E534E-3644-95FF-C10C-93F493C86A37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EMAIL VÀ GIAO THỨC SMTP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061CDC46-3283-11E5-0690-55E4C824B4B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B0EF65CD-B702-16EF-7EFF-7A47D9C13FA1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Cấu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hình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Gmail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cho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Python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C5A4132B-B8DB-D692-233B-BA354A97FD06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SMTP(Simple Mail Transfer Protocol)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giao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để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gửi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email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E30209-9D2A-AC13-F4D2-EEA64B7F3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7804" y="3461034"/>
            <a:ext cx="4036391" cy="253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517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0C666359-7404-7AA4-4CE8-7A433B5E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>
            <a:extLst>
              <a:ext uri="{FF2B5EF4-FFF2-40B4-BE49-F238E27FC236}">
                <a16:creationId xmlns:a16="http://schemas.microsoft.com/office/drawing/2014/main" id="{446285C0-8981-679A-7AD7-4BB25EAFC7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5D862B40-36F5-A17F-332D-3712489D92BC}"/>
              </a:ext>
            </a:extLst>
          </p:cNvPr>
          <p:cNvSpPr/>
          <p:nvPr/>
        </p:nvSpPr>
        <p:spPr>
          <a:xfrm>
            <a:off x="5638800" y="2183159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DF8AFAD8-84C5-8674-3793-B688FB391233}"/>
              </a:ext>
            </a:extLst>
          </p:cNvPr>
          <p:cNvSpPr txBox="1"/>
          <p:nvPr/>
        </p:nvSpPr>
        <p:spPr>
          <a:xfrm>
            <a:off x="0" y="2481841"/>
            <a:ext cx="1219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6. DEPLOY APPLICATION PYTHON</a:t>
            </a: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E3ABAABA-6812-58B7-5C80-4487CA82A656}"/>
              </a:ext>
            </a:extLst>
          </p:cNvPr>
          <p:cNvSpPr/>
          <p:nvPr/>
        </p:nvSpPr>
        <p:spPr>
          <a:xfrm>
            <a:off x="5638800" y="463674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F2B15B-3D52-6BB3-5B52-FA19EE7D91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690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713FDF38-9CB6-6CA9-6D21-6DEEBAC5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8BBC05E1-B804-4747-98DC-F12885D9F5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77953DA2-0A0D-0EB3-C822-82AECE4683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7225D372-7C41-0E05-C236-C5CE1BB335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AC673EC9-58A6-D307-95B3-E02140F2D43B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DEPLOY APPLICATION PYTHON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6C74AAC5-3C49-681D-99A0-72B898E5512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680C5112-A349-21CA-6B35-22CB610D25D1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Pyinstaller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479590B1-13A3-7164-12BF-7A5BE5F76FAE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pip install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pyinstaller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B14C9A-1C49-7846-04F9-CCC8F6C485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834" y="4112656"/>
            <a:ext cx="10612331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745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0794841A-603C-5AF8-8673-A53E130A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>
            <a:extLst>
              <a:ext uri="{FF2B5EF4-FFF2-40B4-BE49-F238E27FC236}">
                <a16:creationId xmlns:a16="http://schemas.microsoft.com/office/drawing/2014/main" id="{BBBBC2C7-5706-FCC2-2BCE-970E3598C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995" y="1300029"/>
            <a:ext cx="102870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>
            <a:extLst>
              <a:ext uri="{FF2B5EF4-FFF2-40B4-BE49-F238E27FC236}">
                <a16:creationId xmlns:a16="http://schemas.microsoft.com/office/drawing/2014/main" id="{C0A307BF-094A-DF73-019B-AC6DFE3074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995" y="2265135"/>
            <a:ext cx="10287000" cy="85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>
            <a:extLst>
              <a:ext uri="{FF2B5EF4-FFF2-40B4-BE49-F238E27FC236}">
                <a16:creationId xmlns:a16="http://schemas.microsoft.com/office/drawing/2014/main" id="{226C7BA9-9131-793B-0D36-A0FF27B87B5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9600"/>
            <a:ext cx="5720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4494F9DF-A861-55A2-E893-CE8204D13513}"/>
              </a:ext>
            </a:extLst>
          </p:cNvPr>
          <p:cNvSpPr txBox="1"/>
          <p:nvPr/>
        </p:nvSpPr>
        <p:spPr>
          <a:xfrm>
            <a:off x="1295995" y="571500"/>
            <a:ext cx="1084072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91C1C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DEPLOY APPLICATION PYTHON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8" name="Google Shape;168;p18" descr="image.png">
            <a:extLst>
              <a:ext uri="{FF2B5EF4-FFF2-40B4-BE49-F238E27FC236}">
                <a16:creationId xmlns:a16="http://schemas.microsoft.com/office/drawing/2014/main" id="{BE34F984-98CF-FADB-AAF0-8EFA1A01C6D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422" y="6762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9052277B-E165-F10D-AEA2-B12FBFA63C91}"/>
              </a:ext>
            </a:extLst>
          </p:cNvPr>
          <p:cNvSpPr txBox="1"/>
          <p:nvPr/>
        </p:nvSpPr>
        <p:spPr>
          <a:xfrm>
            <a:off x="1562695" y="1528629"/>
            <a:ext cx="102812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Sử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dụng</a:t>
            </a:r>
            <a:r>
              <a:rPr lang="en-US" sz="2000" b="1" i="0" u="none" strike="noStrike" cap="none" dirty="0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374151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Pyinstaller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0" name="Google Shape;170;p18">
            <a:extLst>
              <a:ext uri="{FF2B5EF4-FFF2-40B4-BE49-F238E27FC236}">
                <a16:creationId xmlns:a16="http://schemas.microsoft.com/office/drawing/2014/main" id="{92852F55-F58D-5925-6D86-5DE84063FBF5}"/>
              </a:ext>
            </a:extLst>
          </p:cNvPr>
          <p:cNvSpPr txBox="1"/>
          <p:nvPr/>
        </p:nvSpPr>
        <p:spPr>
          <a:xfrm>
            <a:off x="1542692" y="2539811"/>
            <a:ext cx="103212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pyinstaller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–F main.py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9476BA-BE05-B223-48AE-4168421D32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360" y="4297461"/>
            <a:ext cx="10955279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634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0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286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295275" y="1868227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Poppins"/>
                <a:sym typeface="Poppins"/>
              </a:rPr>
              <a:t>CẢM ƠN!</a:t>
            </a:r>
            <a:endParaRPr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486400" y="2863283"/>
            <a:ext cx="1219200" cy="3810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0" y="5590604"/>
            <a:ext cx="1219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Trường Đại học Kiến trúc Đà Nẵng</a:t>
            </a:r>
            <a:endParaRPr sz="18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0" y="6033802"/>
            <a:ext cx="12192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Khoa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Công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nghệ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 Thông tin</a:t>
            </a:r>
            <a:endParaRPr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3653903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Email: </a:t>
            </a:r>
            <a:r>
              <a:rPr lang="en-US" sz="18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tranmanhuy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@dau.edu.vn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4106742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Lato"/>
                <a:sym typeface="Lato"/>
              </a:rPr>
              <a:t>Văn phòng Khoa Công nghệ thông tin</a:t>
            </a:r>
            <a:endParaRPr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D4811-4436-B79C-F5F8-41B8017C5B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728814-0f98-4048-bbcb-c081d5c1933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B7DB85C6CE048AEF838085D0CC4CE" ma:contentTypeVersion="5" ma:contentTypeDescription="Create a new document." ma:contentTypeScope="" ma:versionID="cc9f4f17209173c2d38d22f1aa49d4e7">
  <xsd:schema xmlns:xsd="http://www.w3.org/2001/XMLSchema" xmlns:xs="http://www.w3.org/2001/XMLSchema" xmlns:p="http://schemas.microsoft.com/office/2006/metadata/properties" xmlns:ns3="27728814-0f98-4048-bbcb-c081d5c19333" targetNamespace="http://schemas.microsoft.com/office/2006/metadata/properties" ma:root="true" ma:fieldsID="1a23e52c277ede3f4bc4c33df8849652" ns3:_="">
    <xsd:import namespace="27728814-0f98-4048-bbcb-c081d5c1933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28814-0f98-4048-bbcb-c081d5c1933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FA9961-67A5-413D-93AD-CAE5C1D1EA1F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27728814-0f98-4048-bbcb-c081d5c19333"/>
  </ds:schemaRefs>
</ds:datastoreItem>
</file>

<file path=customXml/itemProps2.xml><?xml version="1.0" encoding="utf-8"?>
<ds:datastoreItem xmlns:ds="http://schemas.openxmlformats.org/officeDocument/2006/customXml" ds:itemID="{21CDD717-CE49-4DA9-AFE8-B60056C315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728814-0f98-4048-bbcb-c081d5c193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14AF2A-A57F-4BB4-8121-854EB3C1F9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2515</Words>
  <Application>Microsoft Office PowerPoint</Application>
  <PresentationFormat>Widescreen</PresentationFormat>
  <Paragraphs>388</Paragraphs>
  <Slides>90</Slides>
  <Notes>90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5" baseType="lpstr">
      <vt:lpstr>Wingdings</vt:lpstr>
      <vt:lpstr>Arial</vt:lpstr>
      <vt:lpstr>Verdana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Ro Nguyen - Rainscales</cp:lastModifiedBy>
  <cp:revision>262</cp:revision>
  <dcterms:modified xsi:type="dcterms:W3CDTF">2026-03-14T16:10:08Z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0x010100224B7DB85C6CE048AEF838085D0CC4CE</vt:lpwstr>
  </property>
</Properties>
</file>